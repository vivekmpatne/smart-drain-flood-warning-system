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Montserrat" charset="1" panose="00000500000000000000"/>
      <p:regular r:id="rId12"/>
    </p:embeddedFont>
    <p:embeddedFont>
      <p:font typeface="Cambria Bold" charset="1" panose="02040803050406030204"/>
      <p:regular r:id="rId13"/>
    </p:embeddedFont>
    <p:embeddedFont>
      <p:font typeface="Times New Roman" charset="1" panose="02020603050405020304"/>
      <p:regular r:id="rId14"/>
    </p:embeddedFont>
    <p:embeddedFont>
      <p:font typeface="Times New Roman Bold" charset="1" panose="02020803070505020304"/>
      <p:regular r:id="rId15"/>
    </p:embeddedFont>
    <p:embeddedFont>
      <p:font typeface="Calibri (MS) Bold" charset="1" panose="020F0702030404030204"/>
      <p:regular r:id="rId16"/>
    </p:embeddedFont>
    <p:embeddedFont>
      <p:font typeface="Calibri (MS)" charset="1" panose="020F050202020403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2" Target="../media/image4.jpeg" Type="http://schemas.openxmlformats.org/officeDocument/2006/relationships/image"/><Relationship Id="rId3" Target="../media/image8.png" Type="http://schemas.openxmlformats.org/officeDocument/2006/relationships/image"/><Relationship Id="rId4" Target="../media/image17.png" Type="http://schemas.openxmlformats.org/officeDocument/2006/relationships/image"/><Relationship Id="rId5" Target="../media/image14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4.png" Type="http://schemas.openxmlformats.org/officeDocument/2006/relationships/image"/><Relationship Id="rId4" Target="../media/image17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Relationship Id="rId7" Target="../media/image27.png" Type="http://schemas.openxmlformats.org/officeDocument/2006/relationships/image"/><Relationship Id="rId8" Target="../media/image1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539977" y="-1039302"/>
            <a:ext cx="8106612" cy="3685709"/>
            <a:chOff x="0" y="0"/>
            <a:chExt cx="1536331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440" y="0"/>
              <a:ext cx="1523450" cy="698500"/>
            </a:xfrm>
            <a:custGeom>
              <a:avLst/>
              <a:gdLst/>
              <a:ahLst/>
              <a:cxnLst/>
              <a:rect r="r" b="b" t="t" l="l"/>
              <a:pathLst>
                <a:path h="698500" w="1523450">
                  <a:moveTo>
                    <a:pt x="1517884" y="369887"/>
                  </a:moveTo>
                  <a:lnTo>
                    <a:pt x="1338697" y="677863"/>
                  </a:lnTo>
                  <a:cubicBezTo>
                    <a:pt x="1331264" y="690640"/>
                    <a:pt x="1317597" y="698500"/>
                    <a:pt x="1302815" y="698500"/>
                  </a:cubicBezTo>
                  <a:lnTo>
                    <a:pt x="220635" y="698500"/>
                  </a:lnTo>
                  <a:cubicBezTo>
                    <a:pt x="205854" y="698500"/>
                    <a:pt x="192187" y="690640"/>
                    <a:pt x="184753" y="677863"/>
                  </a:cubicBezTo>
                  <a:lnTo>
                    <a:pt x="5567" y="369887"/>
                  </a:lnTo>
                  <a:cubicBezTo>
                    <a:pt x="-1855" y="357130"/>
                    <a:pt x="-1855" y="341370"/>
                    <a:pt x="5567" y="328613"/>
                  </a:cubicBezTo>
                  <a:lnTo>
                    <a:pt x="184753" y="20637"/>
                  </a:lnTo>
                  <a:cubicBezTo>
                    <a:pt x="192187" y="7860"/>
                    <a:pt x="205854" y="0"/>
                    <a:pt x="220635" y="0"/>
                  </a:cubicBezTo>
                  <a:lnTo>
                    <a:pt x="1302815" y="0"/>
                  </a:lnTo>
                  <a:cubicBezTo>
                    <a:pt x="1317597" y="0"/>
                    <a:pt x="1331264" y="7860"/>
                    <a:pt x="1338697" y="20637"/>
                  </a:cubicBezTo>
                  <a:lnTo>
                    <a:pt x="1517884" y="328613"/>
                  </a:lnTo>
                  <a:cubicBezTo>
                    <a:pt x="1525306" y="341370"/>
                    <a:pt x="1525306" y="357130"/>
                    <a:pt x="1517884" y="369887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1307731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-7293430" y="1887052"/>
            <a:ext cx="14272578" cy="7458949"/>
            <a:chOff x="0" y="0"/>
            <a:chExt cx="1336568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658" y="0"/>
              <a:ext cx="1329252" cy="698500"/>
            </a:xfrm>
            <a:custGeom>
              <a:avLst/>
              <a:gdLst/>
              <a:ahLst/>
              <a:cxnLst/>
              <a:rect r="r" b="b" t="t" l="l"/>
              <a:pathLst>
                <a:path h="698500" w="1329252">
                  <a:moveTo>
                    <a:pt x="1326091" y="360971"/>
                  </a:moveTo>
                  <a:lnTo>
                    <a:pt x="1136530" y="686779"/>
                  </a:lnTo>
                  <a:cubicBezTo>
                    <a:pt x="1132308" y="694036"/>
                    <a:pt x="1124545" y="698500"/>
                    <a:pt x="1116150" y="698500"/>
                  </a:cubicBezTo>
                  <a:lnTo>
                    <a:pt x="213103" y="698500"/>
                  </a:lnTo>
                  <a:cubicBezTo>
                    <a:pt x="204707" y="698500"/>
                    <a:pt x="196945" y="694036"/>
                    <a:pt x="192722" y="686779"/>
                  </a:cubicBezTo>
                  <a:lnTo>
                    <a:pt x="3162" y="360971"/>
                  </a:lnTo>
                  <a:cubicBezTo>
                    <a:pt x="-1054" y="353726"/>
                    <a:pt x="-1054" y="344774"/>
                    <a:pt x="3162" y="337529"/>
                  </a:cubicBezTo>
                  <a:lnTo>
                    <a:pt x="192722" y="11721"/>
                  </a:lnTo>
                  <a:cubicBezTo>
                    <a:pt x="196945" y="4464"/>
                    <a:pt x="204707" y="0"/>
                    <a:pt x="213103" y="0"/>
                  </a:cubicBezTo>
                  <a:lnTo>
                    <a:pt x="1116150" y="0"/>
                  </a:lnTo>
                  <a:cubicBezTo>
                    <a:pt x="1124545" y="0"/>
                    <a:pt x="1132308" y="4464"/>
                    <a:pt x="1136530" y="11721"/>
                  </a:cubicBezTo>
                  <a:lnTo>
                    <a:pt x="1326091" y="337529"/>
                  </a:lnTo>
                  <a:cubicBezTo>
                    <a:pt x="1330306" y="344774"/>
                    <a:pt x="1330306" y="353726"/>
                    <a:pt x="1326091" y="360971"/>
                  </a:cubicBezTo>
                  <a:close/>
                </a:path>
              </a:pathLst>
            </a:custGeom>
            <a:solidFill>
              <a:srgbClr val="EDF0E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114300" y="-38100"/>
              <a:ext cx="1107968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4100489" y="5578609"/>
            <a:ext cx="10548727" cy="4708391"/>
            <a:chOff x="0" y="0"/>
            <a:chExt cx="775664" cy="34621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75664" cy="346215"/>
            </a:xfrm>
            <a:custGeom>
              <a:avLst/>
              <a:gdLst/>
              <a:ahLst/>
              <a:cxnLst/>
              <a:rect r="r" b="b" t="t" l="l"/>
              <a:pathLst>
                <a:path h="346215" w="775664">
                  <a:moveTo>
                    <a:pt x="572464" y="0"/>
                  </a:moveTo>
                  <a:lnTo>
                    <a:pt x="0" y="0"/>
                  </a:lnTo>
                  <a:lnTo>
                    <a:pt x="203200" y="346215"/>
                  </a:lnTo>
                  <a:lnTo>
                    <a:pt x="775664" y="346215"/>
                  </a:lnTo>
                  <a:lnTo>
                    <a:pt x="572464" y="0"/>
                  </a:ln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38100"/>
              <a:ext cx="572464" cy="384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-2875539" y="-949742"/>
            <a:ext cx="9854686" cy="8468871"/>
            <a:chOff x="0" y="0"/>
            <a:chExt cx="8128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5298" y="0"/>
              <a:ext cx="802204" cy="698500"/>
            </a:xfrm>
            <a:custGeom>
              <a:avLst/>
              <a:gdLst/>
              <a:ahLst/>
              <a:cxnLst/>
              <a:rect r="r" b="b" t="t" l="l"/>
              <a:pathLst>
                <a:path h="698500" w="802204">
                  <a:moveTo>
                    <a:pt x="797625" y="366226"/>
                  </a:moveTo>
                  <a:lnTo>
                    <a:pt x="614179" y="681524"/>
                  </a:lnTo>
                  <a:cubicBezTo>
                    <a:pt x="608064" y="692034"/>
                    <a:pt x="596821" y="698500"/>
                    <a:pt x="584662" y="698500"/>
                  </a:cubicBezTo>
                  <a:lnTo>
                    <a:pt x="217542" y="698500"/>
                  </a:lnTo>
                  <a:cubicBezTo>
                    <a:pt x="205383" y="698500"/>
                    <a:pt x="194140" y="692034"/>
                    <a:pt x="188025" y="681524"/>
                  </a:cubicBezTo>
                  <a:lnTo>
                    <a:pt x="4579" y="366226"/>
                  </a:lnTo>
                  <a:cubicBezTo>
                    <a:pt x="-1527" y="355732"/>
                    <a:pt x="-1527" y="342768"/>
                    <a:pt x="4579" y="332274"/>
                  </a:cubicBezTo>
                  <a:lnTo>
                    <a:pt x="188025" y="16976"/>
                  </a:lnTo>
                  <a:cubicBezTo>
                    <a:pt x="194140" y="6466"/>
                    <a:pt x="205383" y="0"/>
                    <a:pt x="217542" y="0"/>
                  </a:cubicBezTo>
                  <a:lnTo>
                    <a:pt x="584662" y="0"/>
                  </a:lnTo>
                  <a:cubicBezTo>
                    <a:pt x="596821" y="0"/>
                    <a:pt x="608064" y="6466"/>
                    <a:pt x="614179" y="16976"/>
                  </a:cubicBezTo>
                  <a:lnTo>
                    <a:pt x="797625" y="332274"/>
                  </a:lnTo>
                  <a:cubicBezTo>
                    <a:pt x="803731" y="342768"/>
                    <a:pt x="803731" y="355732"/>
                    <a:pt x="797625" y="366226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-2344629" y="-493492"/>
            <a:ext cx="8792868" cy="7556371"/>
            <a:chOff x="0" y="0"/>
            <a:chExt cx="8128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5938" y="0"/>
              <a:ext cx="800925" cy="698500"/>
            </a:xfrm>
            <a:custGeom>
              <a:avLst/>
              <a:gdLst/>
              <a:ahLst/>
              <a:cxnLst/>
              <a:rect r="r" b="b" t="t" l="l"/>
              <a:pathLst>
                <a:path h="698500" w="800925">
                  <a:moveTo>
                    <a:pt x="795792" y="368276"/>
                  </a:moveTo>
                  <a:lnTo>
                    <a:pt x="614732" y="679474"/>
                  </a:lnTo>
                  <a:cubicBezTo>
                    <a:pt x="607878" y="691253"/>
                    <a:pt x="595278" y="698500"/>
                    <a:pt x="581650" y="698500"/>
                  </a:cubicBezTo>
                  <a:lnTo>
                    <a:pt x="219274" y="698500"/>
                  </a:lnTo>
                  <a:cubicBezTo>
                    <a:pt x="205646" y="698500"/>
                    <a:pt x="193046" y="691253"/>
                    <a:pt x="186192" y="679474"/>
                  </a:cubicBezTo>
                  <a:lnTo>
                    <a:pt x="5132" y="368276"/>
                  </a:lnTo>
                  <a:cubicBezTo>
                    <a:pt x="-1711" y="356515"/>
                    <a:pt x="-1711" y="341985"/>
                    <a:pt x="5132" y="330224"/>
                  </a:cubicBezTo>
                  <a:lnTo>
                    <a:pt x="186192" y="19026"/>
                  </a:lnTo>
                  <a:cubicBezTo>
                    <a:pt x="193046" y="7247"/>
                    <a:pt x="205646" y="0"/>
                    <a:pt x="219274" y="0"/>
                  </a:cubicBezTo>
                  <a:lnTo>
                    <a:pt x="581650" y="0"/>
                  </a:lnTo>
                  <a:cubicBezTo>
                    <a:pt x="595278" y="0"/>
                    <a:pt x="607878" y="7247"/>
                    <a:pt x="614732" y="19026"/>
                  </a:cubicBezTo>
                  <a:lnTo>
                    <a:pt x="795792" y="330224"/>
                  </a:lnTo>
                  <a:cubicBezTo>
                    <a:pt x="802635" y="341985"/>
                    <a:pt x="802635" y="356515"/>
                    <a:pt x="795792" y="368276"/>
                  </a:cubicBezTo>
                  <a:close/>
                </a:path>
              </a:pathLst>
            </a:custGeom>
            <a:blipFill>
              <a:blip r:embed="rId2"/>
              <a:stretch>
                <a:fillRect l="0" t="-21988" r="-4327" b="-28218"/>
              </a:stretch>
            </a:blipFill>
            <a:ln w="952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8789849" y="9041709"/>
            <a:ext cx="12306745" cy="2099800"/>
            <a:chOff x="0" y="0"/>
            <a:chExt cx="4093849" cy="698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242" y="0"/>
              <a:ext cx="4085364" cy="698500"/>
            </a:xfrm>
            <a:custGeom>
              <a:avLst/>
              <a:gdLst/>
              <a:ahLst/>
              <a:cxnLst/>
              <a:rect r="r" b="b" t="t" l="l"/>
              <a:pathLst>
                <a:path h="698500" w="4085364">
                  <a:moveTo>
                    <a:pt x="4081698" y="362844"/>
                  </a:moveTo>
                  <a:lnTo>
                    <a:pt x="3894315" y="684906"/>
                  </a:lnTo>
                  <a:cubicBezTo>
                    <a:pt x="3889419" y="693323"/>
                    <a:pt x="3880417" y="698500"/>
                    <a:pt x="3870680" y="698500"/>
                  </a:cubicBezTo>
                  <a:lnTo>
                    <a:pt x="214685" y="698500"/>
                  </a:lnTo>
                  <a:cubicBezTo>
                    <a:pt x="204948" y="698500"/>
                    <a:pt x="195946" y="693323"/>
                    <a:pt x="191049" y="684906"/>
                  </a:cubicBezTo>
                  <a:lnTo>
                    <a:pt x="3667" y="362844"/>
                  </a:lnTo>
                  <a:cubicBezTo>
                    <a:pt x="-1222" y="354441"/>
                    <a:pt x="-1222" y="344059"/>
                    <a:pt x="3667" y="335656"/>
                  </a:cubicBezTo>
                  <a:lnTo>
                    <a:pt x="191049" y="13594"/>
                  </a:lnTo>
                  <a:cubicBezTo>
                    <a:pt x="195946" y="5178"/>
                    <a:pt x="204948" y="0"/>
                    <a:pt x="214685" y="0"/>
                  </a:cubicBezTo>
                  <a:lnTo>
                    <a:pt x="3870680" y="0"/>
                  </a:lnTo>
                  <a:cubicBezTo>
                    <a:pt x="3880417" y="0"/>
                    <a:pt x="3889419" y="5178"/>
                    <a:pt x="3894315" y="13594"/>
                  </a:cubicBezTo>
                  <a:lnTo>
                    <a:pt x="4081698" y="335656"/>
                  </a:lnTo>
                  <a:cubicBezTo>
                    <a:pt x="4086587" y="344059"/>
                    <a:pt x="4086587" y="354441"/>
                    <a:pt x="4081698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941778" y="9863757"/>
            <a:ext cx="13346222" cy="455704"/>
            <a:chOff x="0" y="0"/>
            <a:chExt cx="704943" cy="2407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4943" cy="24070"/>
            </a:xfrm>
            <a:custGeom>
              <a:avLst/>
              <a:gdLst/>
              <a:ahLst/>
              <a:cxnLst/>
              <a:rect r="r" b="b" t="t" l="l"/>
              <a:pathLst>
                <a:path h="24070" w="704943">
                  <a:moveTo>
                    <a:pt x="0" y="0"/>
                  </a:moveTo>
                  <a:lnTo>
                    <a:pt x="704943" y="0"/>
                  </a:lnTo>
                  <a:lnTo>
                    <a:pt x="704943" y="24070"/>
                  </a:lnTo>
                  <a:lnTo>
                    <a:pt x="0" y="24070"/>
                  </a:ln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04943" cy="621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025692" y="-1337560"/>
            <a:ext cx="15571623" cy="2582850"/>
            <a:chOff x="0" y="0"/>
            <a:chExt cx="4211153" cy="698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3353" y="0"/>
              <a:ext cx="4204448" cy="698500"/>
            </a:xfrm>
            <a:custGeom>
              <a:avLst/>
              <a:gdLst/>
              <a:ahLst/>
              <a:cxnLst/>
              <a:rect r="r" b="b" t="t" l="l"/>
              <a:pathLst>
                <a:path h="698500" w="4204448">
                  <a:moveTo>
                    <a:pt x="4201550" y="359993"/>
                  </a:moveTo>
                  <a:lnTo>
                    <a:pt x="4010851" y="687757"/>
                  </a:lnTo>
                  <a:cubicBezTo>
                    <a:pt x="4006981" y="694408"/>
                    <a:pt x="3999866" y="698500"/>
                    <a:pt x="3992171" y="698500"/>
                  </a:cubicBezTo>
                  <a:lnTo>
                    <a:pt x="212277" y="698500"/>
                  </a:lnTo>
                  <a:cubicBezTo>
                    <a:pt x="204581" y="698500"/>
                    <a:pt x="197466" y="694408"/>
                    <a:pt x="193596" y="687757"/>
                  </a:cubicBezTo>
                  <a:lnTo>
                    <a:pt x="2898" y="359993"/>
                  </a:lnTo>
                  <a:cubicBezTo>
                    <a:pt x="-966" y="353352"/>
                    <a:pt x="-966" y="345148"/>
                    <a:pt x="2898" y="338507"/>
                  </a:cubicBezTo>
                  <a:lnTo>
                    <a:pt x="193596" y="10743"/>
                  </a:lnTo>
                  <a:cubicBezTo>
                    <a:pt x="197466" y="4092"/>
                    <a:pt x="204581" y="0"/>
                    <a:pt x="212277" y="0"/>
                  </a:cubicBezTo>
                  <a:lnTo>
                    <a:pt x="3992171" y="0"/>
                  </a:lnTo>
                  <a:cubicBezTo>
                    <a:pt x="3999866" y="0"/>
                    <a:pt x="4006981" y="4092"/>
                    <a:pt x="4010851" y="10743"/>
                  </a:cubicBezTo>
                  <a:lnTo>
                    <a:pt x="4201550" y="338507"/>
                  </a:lnTo>
                  <a:cubicBezTo>
                    <a:pt x="4205414" y="345148"/>
                    <a:pt x="4205414" y="353352"/>
                    <a:pt x="4201550" y="359993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114300" y="-38100"/>
              <a:ext cx="3982553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6199381" y="455704"/>
            <a:ext cx="895560" cy="223890"/>
          </a:xfrm>
          <a:custGeom>
            <a:avLst/>
            <a:gdLst/>
            <a:ahLst/>
            <a:cxnLst/>
            <a:rect r="r" b="b" t="t" l="l"/>
            <a:pathLst>
              <a:path h="223890" w="895560">
                <a:moveTo>
                  <a:pt x="0" y="0"/>
                </a:moveTo>
                <a:lnTo>
                  <a:pt x="895560" y="0"/>
                </a:lnTo>
                <a:lnTo>
                  <a:pt x="895560" y="223890"/>
                </a:lnTo>
                <a:lnTo>
                  <a:pt x="0" y="22389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-2494495" y="8321246"/>
            <a:ext cx="9899835" cy="4708391"/>
            <a:chOff x="0" y="0"/>
            <a:chExt cx="727950" cy="34621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9025" y="0"/>
              <a:ext cx="709900" cy="346215"/>
            </a:xfrm>
            <a:custGeom>
              <a:avLst/>
              <a:gdLst/>
              <a:ahLst/>
              <a:cxnLst/>
              <a:rect r="r" b="b" t="t" l="l"/>
              <a:pathLst>
                <a:path h="346215" w="709900">
                  <a:moveTo>
                    <a:pt x="494610" y="0"/>
                  </a:moveTo>
                  <a:lnTo>
                    <a:pt x="12090" y="0"/>
                  </a:lnTo>
                  <a:cubicBezTo>
                    <a:pt x="7755" y="0"/>
                    <a:pt x="3752" y="2321"/>
                    <a:pt x="1598" y="6083"/>
                  </a:cubicBezTo>
                  <a:cubicBezTo>
                    <a:pt x="-556" y="9844"/>
                    <a:pt x="-531" y="14471"/>
                    <a:pt x="1663" y="18210"/>
                  </a:cubicBezTo>
                  <a:lnTo>
                    <a:pt x="183487" y="328005"/>
                  </a:lnTo>
                  <a:cubicBezTo>
                    <a:pt x="190108" y="339286"/>
                    <a:pt x="202209" y="346215"/>
                    <a:pt x="215290" y="346215"/>
                  </a:cubicBezTo>
                  <a:lnTo>
                    <a:pt x="697810" y="346215"/>
                  </a:lnTo>
                  <a:cubicBezTo>
                    <a:pt x="702145" y="346215"/>
                    <a:pt x="706148" y="343894"/>
                    <a:pt x="708302" y="340132"/>
                  </a:cubicBezTo>
                  <a:cubicBezTo>
                    <a:pt x="710456" y="336371"/>
                    <a:pt x="710431" y="331744"/>
                    <a:pt x="708237" y="328005"/>
                  </a:cubicBezTo>
                  <a:lnTo>
                    <a:pt x="526412" y="18210"/>
                  </a:lnTo>
                  <a:cubicBezTo>
                    <a:pt x="519791" y="6929"/>
                    <a:pt x="507690" y="0"/>
                    <a:pt x="494610" y="0"/>
                  </a:cubicBezTo>
                  <a:close/>
                </a:path>
              </a:pathLst>
            </a:custGeom>
            <a:solidFill>
              <a:srgbClr val="05697B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101600" y="-38100"/>
              <a:ext cx="524750" cy="3843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-3301442" y="7681518"/>
            <a:ext cx="6602884" cy="5674353"/>
            <a:chOff x="0" y="0"/>
            <a:chExt cx="812800" cy="6985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7907" y="0"/>
              <a:ext cx="796986" cy="698500"/>
            </a:xfrm>
            <a:custGeom>
              <a:avLst/>
              <a:gdLst/>
              <a:ahLst/>
              <a:cxnLst/>
              <a:rect r="r" b="b" t="t" l="l"/>
              <a:pathLst>
                <a:path h="698500" w="796986">
                  <a:moveTo>
                    <a:pt x="790152" y="374586"/>
                  </a:moveTo>
                  <a:lnTo>
                    <a:pt x="616434" y="673164"/>
                  </a:lnTo>
                  <a:cubicBezTo>
                    <a:pt x="607308" y="688850"/>
                    <a:pt x="590528" y="698500"/>
                    <a:pt x="572380" y="698500"/>
                  </a:cubicBezTo>
                  <a:lnTo>
                    <a:pt x="224606" y="698500"/>
                  </a:lnTo>
                  <a:cubicBezTo>
                    <a:pt x="206458" y="698500"/>
                    <a:pt x="189678" y="688850"/>
                    <a:pt x="180552" y="673164"/>
                  </a:cubicBezTo>
                  <a:lnTo>
                    <a:pt x="6834" y="374586"/>
                  </a:lnTo>
                  <a:cubicBezTo>
                    <a:pt x="-2278" y="358924"/>
                    <a:pt x="-2278" y="339576"/>
                    <a:pt x="6834" y="323914"/>
                  </a:cubicBezTo>
                  <a:lnTo>
                    <a:pt x="180552" y="25336"/>
                  </a:lnTo>
                  <a:cubicBezTo>
                    <a:pt x="189678" y="9650"/>
                    <a:pt x="206458" y="0"/>
                    <a:pt x="224606" y="0"/>
                  </a:cubicBezTo>
                  <a:lnTo>
                    <a:pt x="572380" y="0"/>
                  </a:lnTo>
                  <a:cubicBezTo>
                    <a:pt x="590528" y="0"/>
                    <a:pt x="607308" y="9650"/>
                    <a:pt x="616434" y="25336"/>
                  </a:cubicBezTo>
                  <a:lnTo>
                    <a:pt x="790152" y="323914"/>
                  </a:lnTo>
                  <a:cubicBezTo>
                    <a:pt x="799264" y="339576"/>
                    <a:pt x="799264" y="358924"/>
                    <a:pt x="790152" y="374586"/>
                  </a:cubicBezTo>
                  <a:close/>
                </a:path>
              </a:pathLst>
            </a:custGeom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114300" y="-38100"/>
              <a:ext cx="5842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8328940" y="7321961"/>
            <a:ext cx="2255132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40"/>
              </a:lnSpc>
            </a:pPr>
            <a:r>
              <a:rPr lang="en-US" sz="21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Presented by: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432792" y="3062547"/>
            <a:ext cx="10320879" cy="2377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241"/>
              </a:lnSpc>
            </a:pPr>
            <a:r>
              <a:rPr lang="en-US" b="true" sz="8637">
                <a:solidFill>
                  <a:srgbClr val="21295C"/>
                </a:solidFill>
                <a:latin typeface="Cambria Bold"/>
                <a:ea typeface="Cambria Bold"/>
                <a:cs typeface="Cambria Bold"/>
                <a:sym typeface="Cambria Bold"/>
              </a:rPr>
              <a:t>Smart Drain Flood Monitoring System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72986" y="5678313"/>
            <a:ext cx="7160121" cy="531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9"/>
              </a:lnSpc>
              <a:spcBef>
                <a:spcPct val="0"/>
              </a:spcBef>
            </a:pPr>
            <a:r>
              <a:rPr lang="en-US" sz="2999">
                <a:solidFill>
                  <a:srgbClr val="21295C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Real-Time IoT-Based Early Warning System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1419285" y="6584546"/>
            <a:ext cx="6334385" cy="2063507"/>
            <a:chOff x="0" y="0"/>
            <a:chExt cx="8445847" cy="2751343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-76200"/>
              <a:ext cx="4758515" cy="2827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31"/>
                </a:lnSpc>
              </a:pPr>
              <a:r>
                <a:rPr lang="en-US" sz="3066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Aditya Mathad</a:t>
              </a:r>
            </a:p>
            <a:p>
              <a:pPr algn="l">
                <a:lnSpc>
                  <a:spcPts val="4231"/>
                </a:lnSpc>
              </a:pPr>
              <a:r>
                <a:rPr lang="en-US" sz="3066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Christo Savio George</a:t>
              </a:r>
            </a:p>
            <a:p>
              <a:pPr algn="l">
                <a:lnSpc>
                  <a:spcPts val="4231"/>
                </a:lnSpc>
              </a:pPr>
              <a:r>
                <a:rPr lang="en-US" sz="3066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Sandeep A Patil</a:t>
              </a:r>
            </a:p>
            <a:p>
              <a:pPr algn="l">
                <a:lnSpc>
                  <a:spcPts val="4231"/>
                </a:lnSpc>
                <a:spcBef>
                  <a:spcPct val="0"/>
                </a:spcBef>
              </a:pPr>
              <a:r>
                <a:rPr lang="en-US" b="true" sz="3066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Vivek Patne M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5388601" y="-76200"/>
              <a:ext cx="3057246" cy="28275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31"/>
                </a:lnSpc>
              </a:pPr>
              <a:r>
                <a:rPr lang="en-US" sz="3066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1RN24EC008</a:t>
              </a:r>
            </a:p>
            <a:p>
              <a:pPr algn="l">
                <a:lnSpc>
                  <a:spcPts val="4231"/>
                </a:lnSpc>
              </a:pPr>
              <a:r>
                <a:rPr lang="en-US" sz="3066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1RN24CD019</a:t>
              </a:r>
            </a:p>
            <a:p>
              <a:pPr algn="l">
                <a:lnSpc>
                  <a:spcPts val="4231"/>
                </a:lnSpc>
              </a:pPr>
              <a:r>
                <a:rPr lang="en-US" sz="3066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1RN24EC117</a:t>
              </a:r>
            </a:p>
            <a:p>
              <a:pPr algn="l">
                <a:lnSpc>
                  <a:spcPts val="4231"/>
                </a:lnSpc>
                <a:spcBef>
                  <a:spcPct val="0"/>
                </a:spcBef>
              </a:pPr>
              <a:r>
                <a:rPr lang="en-US" b="true" sz="3066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1RN24CD112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22960" y="754380"/>
            <a:ext cx="10972800" cy="494722"/>
            <a:chOff x="0" y="0"/>
            <a:chExt cx="14630400" cy="65963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30400" cy="659630"/>
            </a:xfrm>
            <a:custGeom>
              <a:avLst/>
              <a:gdLst/>
              <a:ahLst/>
              <a:cxnLst/>
              <a:rect r="r" b="b" t="t" l="l"/>
              <a:pathLst>
                <a:path h="659630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59630"/>
                  </a:lnTo>
                  <a:lnTo>
                    <a:pt x="0" y="65963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7813" r="0" b="-376531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14630400" cy="707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99"/>
                </a:lnSpc>
              </a:pPr>
              <a:r>
                <a:rPr lang="en-US" b="true" sz="2499" spc="416">
                  <a:solidFill>
                    <a:srgbClr val="B23A2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PROBLEM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22960" y="1234440"/>
            <a:ext cx="16596360" cy="1371600"/>
            <a:chOff x="0" y="0"/>
            <a:chExt cx="22128480" cy="1828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21284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5768" r="0" b="-18576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221284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20"/>
                </a:lnSpc>
              </a:pPr>
              <a:r>
                <a:rPr lang="en-US" sz="51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Heavy Rain, Flooded Roads, No Warning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6153373" y="9622006"/>
            <a:ext cx="12306745" cy="2099800"/>
            <a:chOff x="0" y="0"/>
            <a:chExt cx="4093849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242" y="0"/>
              <a:ext cx="4085364" cy="698500"/>
            </a:xfrm>
            <a:custGeom>
              <a:avLst/>
              <a:gdLst/>
              <a:ahLst/>
              <a:cxnLst/>
              <a:rect r="r" b="b" t="t" l="l"/>
              <a:pathLst>
                <a:path h="698500" w="4085364">
                  <a:moveTo>
                    <a:pt x="4081698" y="362844"/>
                  </a:moveTo>
                  <a:lnTo>
                    <a:pt x="3894315" y="684906"/>
                  </a:lnTo>
                  <a:cubicBezTo>
                    <a:pt x="3889419" y="693323"/>
                    <a:pt x="3880417" y="698500"/>
                    <a:pt x="3870680" y="698500"/>
                  </a:cubicBezTo>
                  <a:lnTo>
                    <a:pt x="214685" y="698500"/>
                  </a:lnTo>
                  <a:cubicBezTo>
                    <a:pt x="204948" y="698500"/>
                    <a:pt x="195946" y="693323"/>
                    <a:pt x="191049" y="684906"/>
                  </a:cubicBezTo>
                  <a:lnTo>
                    <a:pt x="3667" y="362844"/>
                  </a:lnTo>
                  <a:cubicBezTo>
                    <a:pt x="-1222" y="354441"/>
                    <a:pt x="-1222" y="344059"/>
                    <a:pt x="3667" y="335656"/>
                  </a:cubicBezTo>
                  <a:lnTo>
                    <a:pt x="191049" y="13594"/>
                  </a:lnTo>
                  <a:cubicBezTo>
                    <a:pt x="195946" y="5178"/>
                    <a:pt x="204948" y="0"/>
                    <a:pt x="214685" y="0"/>
                  </a:cubicBezTo>
                  <a:lnTo>
                    <a:pt x="3870680" y="0"/>
                  </a:lnTo>
                  <a:cubicBezTo>
                    <a:pt x="3880417" y="0"/>
                    <a:pt x="3889419" y="5178"/>
                    <a:pt x="3894315" y="13594"/>
                  </a:cubicBezTo>
                  <a:lnTo>
                    <a:pt x="4081698" y="335656"/>
                  </a:lnTo>
                  <a:cubicBezTo>
                    <a:pt x="4086587" y="344059"/>
                    <a:pt x="4086587" y="354441"/>
                    <a:pt x="4081698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832485" y="9812274"/>
            <a:ext cx="8229600" cy="384048"/>
            <a:chOff x="0" y="0"/>
            <a:chExt cx="10972800" cy="51206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Flood Monitoring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5818663" y="9793224"/>
            <a:ext cx="1645920" cy="384048"/>
            <a:chOff x="0" y="0"/>
            <a:chExt cx="2194560" cy="51206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1945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02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1003935" y="4573287"/>
            <a:ext cx="3871756" cy="4861528"/>
          </a:xfrm>
          <a:custGeom>
            <a:avLst/>
            <a:gdLst/>
            <a:ahLst/>
            <a:cxnLst/>
            <a:rect r="r" b="b" t="t" l="l"/>
            <a:pathLst>
              <a:path h="4861528" w="3871756">
                <a:moveTo>
                  <a:pt x="0" y="0"/>
                </a:moveTo>
                <a:lnTo>
                  <a:pt x="3871756" y="0"/>
                </a:lnTo>
                <a:lnTo>
                  <a:pt x="3871756" y="4861528"/>
                </a:lnTo>
                <a:lnTo>
                  <a:pt x="0" y="48615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190016" y="4547283"/>
            <a:ext cx="3872069" cy="4861921"/>
          </a:xfrm>
          <a:custGeom>
            <a:avLst/>
            <a:gdLst/>
            <a:ahLst/>
            <a:cxnLst/>
            <a:rect r="r" b="b" t="t" l="l"/>
            <a:pathLst>
              <a:path h="4861921" w="3872069">
                <a:moveTo>
                  <a:pt x="0" y="0"/>
                </a:moveTo>
                <a:lnTo>
                  <a:pt x="3872069" y="0"/>
                </a:lnTo>
                <a:lnTo>
                  <a:pt x="3872069" y="4861921"/>
                </a:lnTo>
                <a:lnTo>
                  <a:pt x="0" y="48619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9376097" y="4515239"/>
            <a:ext cx="7883203" cy="4743061"/>
          </a:xfrm>
          <a:custGeom>
            <a:avLst/>
            <a:gdLst/>
            <a:ahLst/>
            <a:cxnLst/>
            <a:rect r="r" b="b" t="t" l="l"/>
            <a:pathLst>
              <a:path h="4743061" w="7883203">
                <a:moveTo>
                  <a:pt x="0" y="0"/>
                </a:moveTo>
                <a:lnTo>
                  <a:pt x="7883203" y="0"/>
                </a:lnTo>
                <a:lnTo>
                  <a:pt x="7883203" y="4743061"/>
                </a:lnTo>
                <a:lnTo>
                  <a:pt x="0" y="47430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822960" y="2558415"/>
            <a:ext cx="13204330" cy="1604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5291" indent="-212645" lvl="1">
              <a:lnSpc>
                <a:spcPts val="3158"/>
              </a:lnSpc>
              <a:buFont typeface="Arial"/>
              <a:buChar char="•"/>
            </a:pPr>
            <a:r>
              <a:rPr lang="en-US" b="true" sz="2349">
                <a:solidFill>
                  <a:srgbClr val="4A55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 few hours of heavy rain is enough to flood roads, drains, and low-lying areas across the city.</a:t>
            </a:r>
          </a:p>
          <a:p>
            <a:pPr algn="l" marL="425291" indent="-212645" lvl="1">
              <a:lnSpc>
                <a:spcPts val="3158"/>
              </a:lnSpc>
              <a:buFont typeface="Arial"/>
              <a:buChar char="•"/>
            </a:pPr>
            <a:r>
              <a:rPr lang="en-US" b="true" sz="2349">
                <a:solidFill>
                  <a:srgbClr val="4A55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Waterlogging disrupts traffic, damages homes and vehicles, and puts lives at risk every monsoon.</a:t>
            </a:r>
          </a:p>
          <a:p>
            <a:pPr algn="l" marL="425291" indent="-212645" lvl="1">
              <a:lnSpc>
                <a:spcPts val="3158"/>
              </a:lnSpc>
              <a:buFont typeface="Arial"/>
              <a:buChar char="•"/>
            </a:pPr>
            <a:r>
              <a:rPr lang="en-US" b="true" sz="2349">
                <a:solidFill>
                  <a:srgbClr val="4A55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Drains are usually checked only after flooding has already happened.</a:t>
            </a:r>
          </a:p>
          <a:p>
            <a:pPr algn="l" marL="425291" indent="-212645" lvl="1">
              <a:lnSpc>
                <a:spcPts val="3158"/>
              </a:lnSpc>
              <a:buFont typeface="Arial"/>
              <a:buChar char="•"/>
            </a:pPr>
            <a:r>
              <a:rPr lang="en-US" b="true" sz="2349">
                <a:solidFill>
                  <a:srgbClr val="4A556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Citizens have no easy way to warn each other or alert authorities in real time.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025692" y="-1337560"/>
            <a:ext cx="15571623" cy="2582850"/>
            <a:chOff x="0" y="0"/>
            <a:chExt cx="4211153" cy="6985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3353" y="0"/>
              <a:ext cx="4204448" cy="698500"/>
            </a:xfrm>
            <a:custGeom>
              <a:avLst/>
              <a:gdLst/>
              <a:ahLst/>
              <a:cxnLst/>
              <a:rect r="r" b="b" t="t" l="l"/>
              <a:pathLst>
                <a:path h="698500" w="4204448">
                  <a:moveTo>
                    <a:pt x="4201550" y="359993"/>
                  </a:moveTo>
                  <a:lnTo>
                    <a:pt x="4010851" y="687757"/>
                  </a:lnTo>
                  <a:cubicBezTo>
                    <a:pt x="4006981" y="694408"/>
                    <a:pt x="3999866" y="698500"/>
                    <a:pt x="3992171" y="698500"/>
                  </a:cubicBezTo>
                  <a:lnTo>
                    <a:pt x="212277" y="698500"/>
                  </a:lnTo>
                  <a:cubicBezTo>
                    <a:pt x="204581" y="698500"/>
                    <a:pt x="197466" y="694408"/>
                    <a:pt x="193596" y="687757"/>
                  </a:cubicBezTo>
                  <a:lnTo>
                    <a:pt x="2898" y="359993"/>
                  </a:lnTo>
                  <a:cubicBezTo>
                    <a:pt x="-966" y="353352"/>
                    <a:pt x="-966" y="345148"/>
                    <a:pt x="2898" y="338507"/>
                  </a:cubicBezTo>
                  <a:lnTo>
                    <a:pt x="193596" y="10743"/>
                  </a:lnTo>
                  <a:cubicBezTo>
                    <a:pt x="197466" y="4092"/>
                    <a:pt x="204581" y="0"/>
                    <a:pt x="212277" y="0"/>
                  </a:cubicBezTo>
                  <a:lnTo>
                    <a:pt x="3992171" y="0"/>
                  </a:lnTo>
                  <a:cubicBezTo>
                    <a:pt x="3999866" y="0"/>
                    <a:pt x="4006981" y="4092"/>
                    <a:pt x="4010851" y="10743"/>
                  </a:cubicBezTo>
                  <a:lnTo>
                    <a:pt x="4201550" y="338507"/>
                  </a:lnTo>
                  <a:cubicBezTo>
                    <a:pt x="4205414" y="345148"/>
                    <a:pt x="4205414" y="353352"/>
                    <a:pt x="4201550" y="359993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114300" y="-38100"/>
              <a:ext cx="3982553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53373" y="9622006"/>
            <a:ext cx="12306745" cy="2099800"/>
            <a:chOff x="0" y="0"/>
            <a:chExt cx="4093849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242" y="0"/>
              <a:ext cx="4085364" cy="698500"/>
            </a:xfrm>
            <a:custGeom>
              <a:avLst/>
              <a:gdLst/>
              <a:ahLst/>
              <a:cxnLst/>
              <a:rect r="r" b="b" t="t" l="l"/>
              <a:pathLst>
                <a:path h="698500" w="4085364">
                  <a:moveTo>
                    <a:pt x="4081698" y="362844"/>
                  </a:moveTo>
                  <a:lnTo>
                    <a:pt x="3894315" y="684906"/>
                  </a:lnTo>
                  <a:cubicBezTo>
                    <a:pt x="3889419" y="693323"/>
                    <a:pt x="3880417" y="698500"/>
                    <a:pt x="3870680" y="698500"/>
                  </a:cubicBezTo>
                  <a:lnTo>
                    <a:pt x="214685" y="698500"/>
                  </a:lnTo>
                  <a:cubicBezTo>
                    <a:pt x="204948" y="698500"/>
                    <a:pt x="195946" y="693323"/>
                    <a:pt x="191049" y="684906"/>
                  </a:cubicBezTo>
                  <a:lnTo>
                    <a:pt x="3667" y="362844"/>
                  </a:lnTo>
                  <a:cubicBezTo>
                    <a:pt x="-1222" y="354441"/>
                    <a:pt x="-1222" y="344059"/>
                    <a:pt x="3667" y="335656"/>
                  </a:cubicBezTo>
                  <a:lnTo>
                    <a:pt x="191049" y="13594"/>
                  </a:lnTo>
                  <a:cubicBezTo>
                    <a:pt x="195946" y="5178"/>
                    <a:pt x="204948" y="0"/>
                    <a:pt x="214685" y="0"/>
                  </a:cubicBezTo>
                  <a:lnTo>
                    <a:pt x="3870680" y="0"/>
                  </a:lnTo>
                  <a:cubicBezTo>
                    <a:pt x="3880417" y="0"/>
                    <a:pt x="3889419" y="5178"/>
                    <a:pt x="3894315" y="13594"/>
                  </a:cubicBezTo>
                  <a:lnTo>
                    <a:pt x="4081698" y="335656"/>
                  </a:lnTo>
                  <a:cubicBezTo>
                    <a:pt x="4086587" y="344059"/>
                    <a:pt x="4086587" y="354441"/>
                    <a:pt x="4081698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2485" y="9812274"/>
            <a:ext cx="8229600" cy="384048"/>
            <a:chOff x="0" y="0"/>
            <a:chExt cx="1097280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Flood Monitoring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18663" y="9793224"/>
            <a:ext cx="1645920" cy="384048"/>
            <a:chOff x="0" y="0"/>
            <a:chExt cx="219456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25692" y="-1337560"/>
            <a:ext cx="15571623" cy="2582850"/>
            <a:chOff x="0" y="0"/>
            <a:chExt cx="4211153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53" y="0"/>
              <a:ext cx="4204448" cy="698500"/>
            </a:xfrm>
            <a:custGeom>
              <a:avLst/>
              <a:gdLst/>
              <a:ahLst/>
              <a:cxnLst/>
              <a:rect r="r" b="b" t="t" l="l"/>
              <a:pathLst>
                <a:path h="698500" w="4204448">
                  <a:moveTo>
                    <a:pt x="4201550" y="359993"/>
                  </a:moveTo>
                  <a:lnTo>
                    <a:pt x="4010851" y="687757"/>
                  </a:lnTo>
                  <a:cubicBezTo>
                    <a:pt x="4006981" y="694408"/>
                    <a:pt x="3999866" y="698500"/>
                    <a:pt x="3992171" y="698500"/>
                  </a:cubicBezTo>
                  <a:lnTo>
                    <a:pt x="212277" y="698500"/>
                  </a:lnTo>
                  <a:cubicBezTo>
                    <a:pt x="204581" y="698500"/>
                    <a:pt x="197466" y="694408"/>
                    <a:pt x="193596" y="687757"/>
                  </a:cubicBezTo>
                  <a:lnTo>
                    <a:pt x="2898" y="359993"/>
                  </a:lnTo>
                  <a:cubicBezTo>
                    <a:pt x="-966" y="353352"/>
                    <a:pt x="-966" y="345148"/>
                    <a:pt x="2898" y="338507"/>
                  </a:cubicBezTo>
                  <a:lnTo>
                    <a:pt x="193596" y="10743"/>
                  </a:lnTo>
                  <a:cubicBezTo>
                    <a:pt x="197466" y="4092"/>
                    <a:pt x="204581" y="0"/>
                    <a:pt x="212277" y="0"/>
                  </a:cubicBezTo>
                  <a:lnTo>
                    <a:pt x="3992171" y="0"/>
                  </a:lnTo>
                  <a:cubicBezTo>
                    <a:pt x="3999866" y="0"/>
                    <a:pt x="4006981" y="4092"/>
                    <a:pt x="4010851" y="10743"/>
                  </a:cubicBezTo>
                  <a:lnTo>
                    <a:pt x="4201550" y="338507"/>
                  </a:lnTo>
                  <a:cubicBezTo>
                    <a:pt x="4205414" y="345148"/>
                    <a:pt x="4205414" y="353352"/>
                    <a:pt x="4201550" y="359993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3982553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685800"/>
            <a:ext cx="10972800" cy="438912"/>
            <a:chOff x="0" y="0"/>
            <a:chExt cx="146304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124712"/>
            <a:ext cx="16596360" cy="1577340"/>
            <a:chOff x="0" y="0"/>
            <a:chExt cx="22128480" cy="21031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2103120"/>
            </a:xfrm>
            <a:custGeom>
              <a:avLst/>
              <a:gdLst/>
              <a:ahLst/>
              <a:cxnLst/>
              <a:rect r="r" b="b" t="t" l="l"/>
              <a:pathLst>
                <a:path h="210312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2103120"/>
                  </a:lnTo>
                  <a:lnTo>
                    <a:pt x="0" y="2103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55016" r="0" b="-15501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128480" cy="2141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103"/>
                </a:lnSpc>
              </a:pPr>
              <a:r>
                <a:rPr lang="en-US" sz="40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Intelligent Water Clogging and Flood</a:t>
              </a:r>
            </a:p>
            <a:p>
              <a:pPr algn="l">
                <a:lnSpc>
                  <a:spcPts val="5103"/>
                </a:lnSpc>
              </a:pPr>
              <a:r>
                <a:rPr lang="en-US" sz="40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Prevention Using Real-Time 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22960" y="2811780"/>
            <a:ext cx="15910560" cy="887713"/>
            <a:chOff x="0" y="0"/>
            <a:chExt cx="21214080" cy="118361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214080" cy="1183617"/>
            </a:xfrm>
            <a:custGeom>
              <a:avLst/>
              <a:gdLst/>
              <a:ahLst/>
              <a:cxnLst/>
              <a:rect r="r" b="b" t="t" l="l"/>
              <a:pathLst>
                <a:path h="1183617" w="21214080">
                  <a:moveTo>
                    <a:pt x="0" y="0"/>
                  </a:moveTo>
                  <a:lnTo>
                    <a:pt x="21214080" y="0"/>
                  </a:lnTo>
                  <a:lnTo>
                    <a:pt x="21214080" y="1183617"/>
                  </a:lnTo>
                  <a:lnTo>
                    <a:pt x="0" y="118361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02879" r="0" b="-29558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214080" cy="12312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59"/>
                </a:lnSpc>
              </a:pPr>
              <a:r>
                <a:rPr lang="en-US" sz="2549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smart early-warning system that watches water levels as they rise, predicts flooding before it happens, and alerts people in time to act.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22960" y="4114800"/>
            <a:ext cx="1165860" cy="1165860"/>
            <a:chOff x="0" y="0"/>
            <a:chExt cx="1554480" cy="15544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102766" y="4394606"/>
            <a:ext cx="606247" cy="606247"/>
            <a:chOff x="0" y="0"/>
            <a:chExt cx="808330" cy="808330"/>
          </a:xfrm>
        </p:grpSpPr>
        <p:sp>
          <p:nvSpPr>
            <p:cNvPr name="Freeform 26" id="26" descr="/home/claude/assets/icons/activity_white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3" b="3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2331720" y="4018788"/>
            <a:ext cx="6515100" cy="569128"/>
            <a:chOff x="0" y="0"/>
            <a:chExt cx="8686800" cy="75883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86800" cy="758837"/>
            </a:xfrm>
            <a:custGeom>
              <a:avLst/>
              <a:gdLst/>
              <a:ahLst/>
              <a:cxnLst/>
              <a:rect r="r" b="b" t="t" l="l"/>
              <a:pathLst>
                <a:path h="758837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55" r="0" b="-17125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8686800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Monitoring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331720" y="4567428"/>
            <a:ext cx="6515100" cy="1371600"/>
            <a:chOff x="0" y="0"/>
            <a:chExt cx="8686800" cy="18288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68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8686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249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Water levels are tracked continuously, with no manual checking needed.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395460" y="4114800"/>
            <a:ext cx="1165860" cy="1165860"/>
            <a:chOff x="0" y="0"/>
            <a:chExt cx="1554480" cy="15544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75266" y="4394606"/>
            <a:ext cx="606247" cy="606247"/>
            <a:chOff x="0" y="0"/>
            <a:chExt cx="808330" cy="808330"/>
          </a:xfrm>
        </p:grpSpPr>
        <p:sp>
          <p:nvSpPr>
            <p:cNvPr name="Freeform 36" id="36" descr="/home/claude/assets/icons/cloudrain_white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3" b="3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904220" y="4018788"/>
            <a:ext cx="6515100" cy="569128"/>
            <a:chOff x="0" y="0"/>
            <a:chExt cx="8686800" cy="758837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86800" cy="758837"/>
            </a:xfrm>
            <a:custGeom>
              <a:avLst/>
              <a:gdLst/>
              <a:ahLst/>
              <a:cxnLst/>
              <a:rect r="r" b="b" t="t" l="l"/>
              <a:pathLst>
                <a:path h="758837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55" r="0" b="-1712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57150"/>
              <a:ext cx="8686800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Early Prediction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0904220" y="4567428"/>
            <a:ext cx="6515100" cy="1371600"/>
            <a:chOff x="0" y="0"/>
            <a:chExt cx="8686800" cy="1828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68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8686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249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Live readings plus weather forecasts flag rising risk before it turns critical.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822960" y="6995160"/>
            <a:ext cx="1165860" cy="1165860"/>
            <a:chOff x="0" y="0"/>
            <a:chExt cx="1554480" cy="15544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1102766" y="7274966"/>
            <a:ext cx="606247" cy="606247"/>
            <a:chOff x="0" y="0"/>
            <a:chExt cx="808330" cy="808330"/>
          </a:xfrm>
        </p:grpSpPr>
        <p:sp>
          <p:nvSpPr>
            <p:cNvPr name="Freeform 46" id="46" descr="/home/claude/assets/icons/bell_white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3" b="3"/>
              </a:stretch>
            </a:blip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2331720" y="6899148"/>
            <a:ext cx="6515100" cy="569128"/>
            <a:chOff x="0" y="0"/>
            <a:chExt cx="8686800" cy="75883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8686800" cy="758837"/>
            </a:xfrm>
            <a:custGeom>
              <a:avLst/>
              <a:gdLst/>
              <a:ahLst/>
              <a:cxnLst/>
              <a:rect r="r" b="b" t="t" l="l"/>
              <a:pathLst>
                <a:path h="758837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55" r="0" b="-17125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57150"/>
              <a:ext cx="8686800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Instant Alerts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331720" y="7447788"/>
            <a:ext cx="6515100" cy="1371600"/>
            <a:chOff x="0" y="0"/>
            <a:chExt cx="8686800" cy="182880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68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57150"/>
              <a:ext cx="8686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249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Alerts reach a live dashboard, on-site lights, and email the moment risk rises.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9395460" y="6995160"/>
            <a:ext cx="1165860" cy="1165860"/>
            <a:chOff x="0" y="0"/>
            <a:chExt cx="1554480" cy="155448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5544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54480">
                  <a:moveTo>
                    <a:pt x="0" y="777240"/>
                  </a:moveTo>
                  <a:cubicBezTo>
                    <a:pt x="0" y="347980"/>
                    <a:pt x="347980" y="0"/>
                    <a:pt x="777240" y="0"/>
                  </a:cubicBezTo>
                  <a:cubicBezTo>
                    <a:pt x="1206500" y="0"/>
                    <a:pt x="1554480" y="347980"/>
                    <a:pt x="1554480" y="777240"/>
                  </a:cubicBezTo>
                  <a:cubicBezTo>
                    <a:pt x="1554480" y="1206500"/>
                    <a:pt x="1206500" y="1554480"/>
                    <a:pt x="777240" y="1554480"/>
                  </a:cubicBezTo>
                  <a:cubicBezTo>
                    <a:pt x="347980" y="1554480"/>
                    <a:pt x="0" y="1206500"/>
                    <a:pt x="0" y="77724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675266" y="7274966"/>
            <a:ext cx="606247" cy="606247"/>
            <a:chOff x="0" y="0"/>
            <a:chExt cx="808330" cy="808330"/>
          </a:xfrm>
        </p:grpSpPr>
        <p:sp>
          <p:nvSpPr>
            <p:cNvPr name="Freeform 56" id="56" descr="/home/claude/assets/icons/users_white.png"/>
            <p:cNvSpPr/>
            <p:nvPr/>
          </p:nvSpPr>
          <p:spPr>
            <a:xfrm flipH="false" flipV="false" rot="0">
              <a:off x="0" y="0"/>
              <a:ext cx="808355" cy="808355"/>
            </a:xfrm>
            <a:custGeom>
              <a:avLst/>
              <a:gdLst/>
              <a:ahLst/>
              <a:cxnLst/>
              <a:rect r="r" b="b" t="t" l="l"/>
              <a:pathLst>
                <a:path h="808355" w="808355">
                  <a:moveTo>
                    <a:pt x="0" y="0"/>
                  </a:moveTo>
                  <a:lnTo>
                    <a:pt x="808355" y="0"/>
                  </a:lnTo>
                  <a:lnTo>
                    <a:pt x="808355" y="808355"/>
                  </a:lnTo>
                  <a:lnTo>
                    <a:pt x="0" y="8083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3" b="3"/>
              </a:stretch>
            </a:blipFill>
          </p:spPr>
        </p:sp>
      </p:grpSp>
      <p:grpSp>
        <p:nvGrpSpPr>
          <p:cNvPr name="Group 57" id="57"/>
          <p:cNvGrpSpPr/>
          <p:nvPr/>
        </p:nvGrpSpPr>
        <p:grpSpPr>
          <a:xfrm rot="0">
            <a:off x="10904220" y="6899148"/>
            <a:ext cx="6515100" cy="569128"/>
            <a:chOff x="0" y="0"/>
            <a:chExt cx="8686800" cy="758837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8686800" cy="758837"/>
            </a:xfrm>
            <a:custGeom>
              <a:avLst/>
              <a:gdLst/>
              <a:ahLst/>
              <a:cxnLst/>
              <a:rect r="r" b="b" t="t" l="l"/>
              <a:pathLst>
                <a:path h="758837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758837"/>
                  </a:lnTo>
                  <a:lnTo>
                    <a:pt x="0" y="75883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855" r="0" b="-171255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57150"/>
              <a:ext cx="8686800" cy="8159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419"/>
                </a:lnSpc>
              </a:pPr>
              <a:r>
                <a:rPr lang="en-US" sz="2849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Citizen Reporting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904220" y="7447788"/>
            <a:ext cx="6515100" cy="1371600"/>
            <a:chOff x="0" y="0"/>
            <a:chExt cx="8686800" cy="18288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86868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8686800">
                  <a:moveTo>
                    <a:pt x="0" y="0"/>
                  </a:moveTo>
                  <a:lnTo>
                    <a:pt x="8686800" y="0"/>
                  </a:lnTo>
                  <a:lnTo>
                    <a:pt x="86868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553" r="0" b="-42553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8686800" cy="1885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04"/>
                </a:lnSpc>
              </a:pPr>
              <a:r>
                <a:rPr lang="en-US" sz="2249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Anyone nearby can report waterlogging straight from their phone.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53373" y="9622006"/>
            <a:ext cx="12306745" cy="2099800"/>
            <a:chOff x="0" y="0"/>
            <a:chExt cx="4093849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242" y="0"/>
              <a:ext cx="4085364" cy="698500"/>
            </a:xfrm>
            <a:custGeom>
              <a:avLst/>
              <a:gdLst/>
              <a:ahLst/>
              <a:cxnLst/>
              <a:rect r="r" b="b" t="t" l="l"/>
              <a:pathLst>
                <a:path h="698500" w="4085364">
                  <a:moveTo>
                    <a:pt x="4081698" y="362844"/>
                  </a:moveTo>
                  <a:lnTo>
                    <a:pt x="3894315" y="684906"/>
                  </a:lnTo>
                  <a:cubicBezTo>
                    <a:pt x="3889419" y="693323"/>
                    <a:pt x="3880417" y="698500"/>
                    <a:pt x="3870680" y="698500"/>
                  </a:cubicBezTo>
                  <a:lnTo>
                    <a:pt x="214685" y="698500"/>
                  </a:lnTo>
                  <a:cubicBezTo>
                    <a:pt x="204948" y="698500"/>
                    <a:pt x="195946" y="693323"/>
                    <a:pt x="191049" y="684906"/>
                  </a:cubicBezTo>
                  <a:lnTo>
                    <a:pt x="3667" y="362844"/>
                  </a:lnTo>
                  <a:cubicBezTo>
                    <a:pt x="-1222" y="354441"/>
                    <a:pt x="-1222" y="344059"/>
                    <a:pt x="3667" y="335656"/>
                  </a:cubicBezTo>
                  <a:lnTo>
                    <a:pt x="191049" y="13594"/>
                  </a:lnTo>
                  <a:cubicBezTo>
                    <a:pt x="195946" y="5178"/>
                    <a:pt x="204948" y="0"/>
                    <a:pt x="214685" y="0"/>
                  </a:cubicBezTo>
                  <a:lnTo>
                    <a:pt x="3870680" y="0"/>
                  </a:lnTo>
                  <a:cubicBezTo>
                    <a:pt x="3880417" y="0"/>
                    <a:pt x="3889419" y="5178"/>
                    <a:pt x="3894315" y="13594"/>
                  </a:cubicBezTo>
                  <a:lnTo>
                    <a:pt x="4081698" y="335656"/>
                  </a:lnTo>
                  <a:cubicBezTo>
                    <a:pt x="4086587" y="344059"/>
                    <a:pt x="4086587" y="354441"/>
                    <a:pt x="4081698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2485" y="9812274"/>
            <a:ext cx="8229600" cy="384048"/>
            <a:chOff x="0" y="0"/>
            <a:chExt cx="1097280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Flood Monitoring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18663" y="9793224"/>
            <a:ext cx="1645920" cy="384048"/>
            <a:chOff x="0" y="0"/>
            <a:chExt cx="219456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04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25692" y="-1337560"/>
            <a:ext cx="15571623" cy="2582850"/>
            <a:chOff x="0" y="0"/>
            <a:chExt cx="4211153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53" y="0"/>
              <a:ext cx="4204448" cy="698500"/>
            </a:xfrm>
            <a:custGeom>
              <a:avLst/>
              <a:gdLst/>
              <a:ahLst/>
              <a:cxnLst/>
              <a:rect r="r" b="b" t="t" l="l"/>
              <a:pathLst>
                <a:path h="698500" w="4204448">
                  <a:moveTo>
                    <a:pt x="4201550" y="359993"/>
                  </a:moveTo>
                  <a:lnTo>
                    <a:pt x="4010851" y="687757"/>
                  </a:lnTo>
                  <a:cubicBezTo>
                    <a:pt x="4006981" y="694408"/>
                    <a:pt x="3999866" y="698500"/>
                    <a:pt x="3992171" y="698500"/>
                  </a:cubicBezTo>
                  <a:lnTo>
                    <a:pt x="212277" y="698500"/>
                  </a:lnTo>
                  <a:cubicBezTo>
                    <a:pt x="204581" y="698500"/>
                    <a:pt x="197466" y="694408"/>
                    <a:pt x="193596" y="687757"/>
                  </a:cubicBezTo>
                  <a:lnTo>
                    <a:pt x="2898" y="359993"/>
                  </a:lnTo>
                  <a:cubicBezTo>
                    <a:pt x="-966" y="353352"/>
                    <a:pt x="-966" y="345148"/>
                    <a:pt x="2898" y="338507"/>
                  </a:cubicBezTo>
                  <a:lnTo>
                    <a:pt x="193596" y="10743"/>
                  </a:lnTo>
                  <a:cubicBezTo>
                    <a:pt x="197466" y="4092"/>
                    <a:pt x="204581" y="0"/>
                    <a:pt x="212277" y="0"/>
                  </a:cubicBezTo>
                  <a:lnTo>
                    <a:pt x="3992171" y="0"/>
                  </a:lnTo>
                  <a:cubicBezTo>
                    <a:pt x="3999866" y="0"/>
                    <a:pt x="4006981" y="4092"/>
                    <a:pt x="4010851" y="10743"/>
                  </a:cubicBezTo>
                  <a:lnTo>
                    <a:pt x="4201550" y="338507"/>
                  </a:lnTo>
                  <a:cubicBezTo>
                    <a:pt x="4205414" y="345148"/>
                    <a:pt x="4205414" y="353352"/>
                    <a:pt x="4201550" y="359993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3982553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685800"/>
            <a:ext cx="10972800" cy="438912"/>
            <a:chOff x="0" y="0"/>
            <a:chExt cx="146304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065A8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RESULTS &amp; IMPACT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124712"/>
            <a:ext cx="16596360" cy="960120"/>
            <a:chOff x="0" y="0"/>
            <a:chExt cx="2212848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2128480" cy="12896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We Built — and Why It's Worth Adopting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802386" y="2657094"/>
            <a:ext cx="7886700" cy="548640"/>
            <a:chOff x="0" y="0"/>
            <a:chExt cx="105156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51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0097" r="0" b="-2300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10515600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What We Achieved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02386" y="3477006"/>
            <a:ext cx="466344" cy="466344"/>
            <a:chOff x="0" y="0"/>
            <a:chExt cx="621792" cy="62179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90988" y="3565608"/>
            <a:ext cx="289131" cy="289131"/>
            <a:chOff x="0" y="0"/>
            <a:chExt cx="385508" cy="385508"/>
          </a:xfrm>
        </p:grpSpPr>
        <p:sp>
          <p:nvSpPr>
            <p:cNvPr name="Freeform 26" id="26" descr="/home/claude/assets/icons/check_white.png"/>
            <p:cNvSpPr/>
            <p:nvPr/>
          </p:nvSpPr>
          <p:spPr>
            <a:xfrm flipH="false" flipV="false" rot="0">
              <a:off x="0" y="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0" y="0"/>
                  </a:moveTo>
                  <a:lnTo>
                    <a:pt x="385572" y="0"/>
                  </a:lnTo>
                  <a:lnTo>
                    <a:pt x="385572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6" b="16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1515618" y="3243834"/>
            <a:ext cx="7173468" cy="932688"/>
            <a:chOff x="0" y="0"/>
            <a:chExt cx="9564624" cy="124358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5646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9564624">
                  <a:moveTo>
                    <a:pt x="0" y="0"/>
                  </a:moveTo>
                  <a:lnTo>
                    <a:pt x="9564624" y="0"/>
                  </a:lnTo>
                  <a:lnTo>
                    <a:pt x="95646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62" r="0" b="-9986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9564624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222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Tracks water levels and classifies risk into clear stages - Normal, Watch, Alert, Critical.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02386" y="5013198"/>
            <a:ext cx="466344" cy="466344"/>
            <a:chOff x="0" y="0"/>
            <a:chExt cx="621792" cy="62179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90988" y="5101800"/>
            <a:ext cx="289131" cy="289131"/>
            <a:chOff x="0" y="0"/>
            <a:chExt cx="385508" cy="385508"/>
          </a:xfrm>
        </p:grpSpPr>
        <p:sp>
          <p:nvSpPr>
            <p:cNvPr name="Freeform 33" id="33" descr="/home/claude/assets/icons/check_white.png"/>
            <p:cNvSpPr/>
            <p:nvPr/>
          </p:nvSpPr>
          <p:spPr>
            <a:xfrm flipH="false" flipV="false" rot="0">
              <a:off x="0" y="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0" y="0"/>
                  </a:moveTo>
                  <a:lnTo>
                    <a:pt x="385572" y="0"/>
                  </a:lnTo>
                  <a:lnTo>
                    <a:pt x="385572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6" b="16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515618" y="4780026"/>
            <a:ext cx="7173468" cy="932688"/>
            <a:chOff x="0" y="0"/>
            <a:chExt cx="9564624" cy="124358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95646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9564624">
                  <a:moveTo>
                    <a:pt x="0" y="0"/>
                  </a:moveTo>
                  <a:lnTo>
                    <a:pt x="9564624" y="0"/>
                  </a:lnTo>
                  <a:lnTo>
                    <a:pt x="95646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62" r="0" b="-99862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9564624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222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Sends alerts well before water reaches a dangerous level, giving real time to react.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802386" y="6549390"/>
            <a:ext cx="466344" cy="466344"/>
            <a:chOff x="0" y="0"/>
            <a:chExt cx="621792" cy="6217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890988" y="6637992"/>
            <a:ext cx="289131" cy="289131"/>
            <a:chOff x="0" y="0"/>
            <a:chExt cx="385508" cy="385508"/>
          </a:xfrm>
        </p:grpSpPr>
        <p:sp>
          <p:nvSpPr>
            <p:cNvPr name="Freeform 40" id="40" descr="/home/claude/assets/icons/check_white.png"/>
            <p:cNvSpPr/>
            <p:nvPr/>
          </p:nvSpPr>
          <p:spPr>
            <a:xfrm flipH="false" flipV="false" rot="0">
              <a:off x="0" y="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0" y="0"/>
                  </a:moveTo>
                  <a:lnTo>
                    <a:pt x="385572" y="0"/>
                  </a:lnTo>
                  <a:lnTo>
                    <a:pt x="385572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6" b="16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515618" y="6316218"/>
            <a:ext cx="7173468" cy="932688"/>
            <a:chOff x="0" y="0"/>
            <a:chExt cx="9564624" cy="124358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646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9564624">
                  <a:moveTo>
                    <a:pt x="0" y="0"/>
                  </a:moveTo>
                  <a:lnTo>
                    <a:pt x="9564624" y="0"/>
                  </a:lnTo>
                  <a:lnTo>
                    <a:pt x="95646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62" r="0" b="-99862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564624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222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 live dashboard shows current status, trends, and history at a glance.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802386" y="8085582"/>
            <a:ext cx="466344" cy="466344"/>
            <a:chOff x="0" y="0"/>
            <a:chExt cx="621792" cy="62179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1792" cy="621792"/>
            </a:xfrm>
            <a:custGeom>
              <a:avLst/>
              <a:gdLst/>
              <a:ahLst/>
              <a:cxnLst/>
              <a:rect r="r" b="b" t="t" l="l"/>
              <a:pathLst>
                <a:path h="621792" w="621792">
                  <a:moveTo>
                    <a:pt x="0" y="310896"/>
                  </a:moveTo>
                  <a:cubicBezTo>
                    <a:pt x="0" y="139192"/>
                    <a:pt x="139192" y="0"/>
                    <a:pt x="310896" y="0"/>
                  </a:cubicBezTo>
                  <a:cubicBezTo>
                    <a:pt x="482600" y="0"/>
                    <a:pt x="621792" y="139192"/>
                    <a:pt x="621792" y="310896"/>
                  </a:cubicBezTo>
                  <a:cubicBezTo>
                    <a:pt x="621792" y="482600"/>
                    <a:pt x="482600" y="621792"/>
                    <a:pt x="310896" y="621792"/>
                  </a:cubicBezTo>
                  <a:cubicBezTo>
                    <a:pt x="139192" y="621792"/>
                    <a:pt x="0" y="482600"/>
                    <a:pt x="0" y="31089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890988" y="8174184"/>
            <a:ext cx="289131" cy="289131"/>
            <a:chOff x="0" y="0"/>
            <a:chExt cx="385508" cy="385508"/>
          </a:xfrm>
        </p:grpSpPr>
        <p:sp>
          <p:nvSpPr>
            <p:cNvPr name="Freeform 47" id="47" descr="/home/claude/assets/icons/check_white.png"/>
            <p:cNvSpPr/>
            <p:nvPr/>
          </p:nvSpPr>
          <p:spPr>
            <a:xfrm flipH="false" flipV="false" rot="0">
              <a:off x="0" y="0"/>
              <a:ext cx="385572" cy="385572"/>
            </a:xfrm>
            <a:custGeom>
              <a:avLst/>
              <a:gdLst/>
              <a:ahLst/>
              <a:cxnLst/>
              <a:rect r="r" b="b" t="t" l="l"/>
              <a:pathLst>
                <a:path h="385572" w="385572">
                  <a:moveTo>
                    <a:pt x="0" y="0"/>
                  </a:moveTo>
                  <a:lnTo>
                    <a:pt x="385572" y="0"/>
                  </a:lnTo>
                  <a:lnTo>
                    <a:pt x="385572" y="385572"/>
                  </a:lnTo>
                  <a:lnTo>
                    <a:pt x="0" y="3855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16" b="16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515618" y="7852410"/>
            <a:ext cx="7173468" cy="932688"/>
            <a:chOff x="0" y="0"/>
            <a:chExt cx="9564624" cy="124358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564624" cy="1243584"/>
            </a:xfrm>
            <a:custGeom>
              <a:avLst/>
              <a:gdLst/>
              <a:ahLst/>
              <a:cxnLst/>
              <a:rect r="r" b="b" t="t" l="l"/>
              <a:pathLst>
                <a:path h="1243584" w="9564624">
                  <a:moveTo>
                    <a:pt x="0" y="0"/>
                  </a:moveTo>
                  <a:lnTo>
                    <a:pt x="9564624" y="0"/>
                  </a:lnTo>
                  <a:lnTo>
                    <a:pt x="9564624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9862" r="0" b="-99862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57150"/>
              <a:ext cx="9564624" cy="130073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70"/>
                </a:lnSpc>
              </a:pPr>
              <a:r>
                <a:rPr lang="en-US" sz="222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A citizen-reporting channel is live and tested end-to-end.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9512046" y="2685669"/>
            <a:ext cx="7927848" cy="548640"/>
            <a:chOff x="0" y="0"/>
            <a:chExt cx="10570464" cy="7315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570464" cy="731520"/>
            </a:xfrm>
            <a:custGeom>
              <a:avLst/>
              <a:gdLst/>
              <a:ahLst/>
              <a:cxnLst/>
              <a:rect r="r" b="b" t="t" l="l"/>
              <a:pathLst>
                <a:path h="731520" w="10570464">
                  <a:moveTo>
                    <a:pt x="0" y="0"/>
                  </a:moveTo>
                  <a:lnTo>
                    <a:pt x="10570464" y="0"/>
                  </a:lnTo>
                  <a:lnTo>
                    <a:pt x="10570464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31558" r="0" b="-23155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10570464" cy="7505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19"/>
                </a:lnSpc>
              </a:pPr>
              <a:r>
                <a:rPr lang="en-US" sz="2599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Why It's Worth Adopting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9512046" y="3477006"/>
            <a:ext cx="768096" cy="768096"/>
            <a:chOff x="0" y="0"/>
            <a:chExt cx="1024128" cy="102412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E8A33D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9696393" y="3661353"/>
            <a:ext cx="399412" cy="399412"/>
            <a:chOff x="0" y="0"/>
            <a:chExt cx="532549" cy="532549"/>
          </a:xfrm>
        </p:grpSpPr>
        <p:sp>
          <p:nvSpPr>
            <p:cNvPr name="Freeform 57" id="57" descr="/home/claude/assets/icons/zap_white.png"/>
            <p:cNvSpPr/>
            <p:nvPr/>
          </p:nvSpPr>
          <p:spPr>
            <a:xfrm flipH="false" flipV="false" rot="0">
              <a:off x="0" y="0"/>
              <a:ext cx="532511" cy="532511"/>
            </a:xfrm>
            <a:custGeom>
              <a:avLst/>
              <a:gdLst/>
              <a:ahLst/>
              <a:cxnLst/>
              <a:rect r="r" b="b" t="t" l="l"/>
              <a:pathLst>
                <a:path h="532511" w="532511">
                  <a:moveTo>
                    <a:pt x="0" y="0"/>
                  </a:moveTo>
                  <a:lnTo>
                    <a:pt x="532511" y="0"/>
                  </a:lnTo>
                  <a:lnTo>
                    <a:pt x="532511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7" b="-7"/>
              </a:stretch>
            </a:blip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0527030" y="3394710"/>
            <a:ext cx="6912864" cy="468038"/>
            <a:chOff x="0" y="0"/>
            <a:chExt cx="9217152" cy="62405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9217152" cy="624050"/>
            </a:xfrm>
            <a:custGeom>
              <a:avLst/>
              <a:gdLst/>
              <a:ahLst/>
              <a:cxnLst/>
              <a:rect r="r" b="b" t="t" l="l"/>
              <a:pathLst>
                <a:path h="62405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624050"/>
                  </a:lnTo>
                  <a:lnTo>
                    <a:pt x="0" y="624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903" r="0" b="-234680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9525"/>
              <a:ext cx="9217152" cy="6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Faster Response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0527030" y="3748659"/>
            <a:ext cx="6912864" cy="685800"/>
            <a:chOff x="0" y="0"/>
            <a:chExt cx="9217152" cy="914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9217152" cy="914400"/>
            </a:xfrm>
            <a:custGeom>
              <a:avLst/>
              <a:gdLst/>
              <a:ahLst/>
              <a:cxnLst/>
              <a:rect r="r" b="b" t="t" l="l"/>
              <a:pathLst>
                <a:path h="91440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921715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Know before the road is already flooded, not after.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9512046" y="5013198"/>
            <a:ext cx="768096" cy="768096"/>
            <a:chOff x="0" y="0"/>
            <a:chExt cx="1024128" cy="102412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9696393" y="5197545"/>
            <a:ext cx="399412" cy="399412"/>
            <a:chOff x="0" y="0"/>
            <a:chExt cx="532549" cy="532549"/>
          </a:xfrm>
        </p:grpSpPr>
        <p:sp>
          <p:nvSpPr>
            <p:cNvPr name="Freeform 67" id="67" descr="/home/claude/assets/icons/shield_white.png"/>
            <p:cNvSpPr/>
            <p:nvPr/>
          </p:nvSpPr>
          <p:spPr>
            <a:xfrm flipH="false" flipV="false" rot="0">
              <a:off x="0" y="0"/>
              <a:ext cx="532511" cy="532511"/>
            </a:xfrm>
            <a:custGeom>
              <a:avLst/>
              <a:gdLst/>
              <a:ahLst/>
              <a:cxnLst/>
              <a:rect r="r" b="b" t="t" l="l"/>
              <a:pathLst>
                <a:path h="532511" w="532511">
                  <a:moveTo>
                    <a:pt x="0" y="0"/>
                  </a:moveTo>
                  <a:lnTo>
                    <a:pt x="532511" y="0"/>
                  </a:lnTo>
                  <a:lnTo>
                    <a:pt x="532511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7" b="-7"/>
              </a:stretch>
            </a:blip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10527030" y="4930902"/>
            <a:ext cx="6912864" cy="468038"/>
            <a:chOff x="0" y="0"/>
            <a:chExt cx="9217152" cy="62405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217152" cy="624050"/>
            </a:xfrm>
            <a:custGeom>
              <a:avLst/>
              <a:gdLst/>
              <a:ahLst/>
              <a:cxnLst/>
              <a:rect r="r" b="b" t="t" l="l"/>
              <a:pathLst>
                <a:path h="62405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624050"/>
                  </a:lnTo>
                  <a:lnTo>
                    <a:pt x="0" y="624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903" r="0" b="-23468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9525"/>
              <a:ext cx="9217152" cy="6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Safer for Everyone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0527030" y="5397246"/>
            <a:ext cx="6912864" cy="755186"/>
            <a:chOff x="0" y="0"/>
            <a:chExt cx="9217152" cy="1006915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9217152" cy="1006915"/>
            </a:xfrm>
            <a:custGeom>
              <a:avLst/>
              <a:gdLst/>
              <a:ahLst/>
              <a:cxnLst/>
              <a:rect r="r" b="b" t="t" l="l"/>
              <a:pathLst>
                <a:path h="1006915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1006915"/>
                  </a:lnTo>
                  <a:lnTo>
                    <a:pt x="0" y="10069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2957" r="0" b="-123769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9217152" cy="10450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Fewer surprises for commuters, property, and response teams.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9512046" y="6549390"/>
            <a:ext cx="768096" cy="768096"/>
            <a:chOff x="0" y="0"/>
            <a:chExt cx="1024128" cy="1024128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696393" y="6733737"/>
            <a:ext cx="399412" cy="399412"/>
            <a:chOff x="0" y="0"/>
            <a:chExt cx="532549" cy="532549"/>
          </a:xfrm>
        </p:grpSpPr>
        <p:sp>
          <p:nvSpPr>
            <p:cNvPr name="Freeform 77" id="77" descr="/home/claude/assets/icons/trending_white.png"/>
            <p:cNvSpPr/>
            <p:nvPr/>
          </p:nvSpPr>
          <p:spPr>
            <a:xfrm flipH="false" flipV="false" rot="0">
              <a:off x="0" y="0"/>
              <a:ext cx="532511" cy="532511"/>
            </a:xfrm>
            <a:custGeom>
              <a:avLst/>
              <a:gdLst/>
              <a:ahLst/>
              <a:cxnLst/>
              <a:rect r="r" b="b" t="t" l="l"/>
              <a:pathLst>
                <a:path h="532511" w="532511">
                  <a:moveTo>
                    <a:pt x="0" y="0"/>
                  </a:moveTo>
                  <a:lnTo>
                    <a:pt x="532511" y="0"/>
                  </a:lnTo>
                  <a:lnTo>
                    <a:pt x="532511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7" b="-7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0527030" y="6467094"/>
            <a:ext cx="6912864" cy="468038"/>
            <a:chOff x="0" y="0"/>
            <a:chExt cx="9217152" cy="62405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9217152" cy="624050"/>
            </a:xfrm>
            <a:custGeom>
              <a:avLst/>
              <a:gdLst/>
              <a:ahLst/>
              <a:cxnLst/>
              <a:rect r="r" b="b" t="t" l="l"/>
              <a:pathLst>
                <a:path h="62405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624050"/>
                  </a:lnTo>
                  <a:lnTo>
                    <a:pt x="0" y="624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903" r="0" b="-23468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9217152" cy="6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Built to Scale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527030" y="6933438"/>
            <a:ext cx="6912864" cy="685800"/>
            <a:chOff x="0" y="0"/>
            <a:chExt cx="9217152" cy="9144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217152" cy="914400"/>
            </a:xfrm>
            <a:custGeom>
              <a:avLst/>
              <a:gdLst/>
              <a:ahLst/>
              <a:cxnLst/>
              <a:rect r="r" b="b" t="t" l="l"/>
              <a:pathLst>
                <a:path h="91440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38100"/>
              <a:ext cx="921715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Grows from one drain to an entire city without a redesign.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9512046" y="8085582"/>
            <a:ext cx="768096" cy="768096"/>
            <a:chOff x="0" y="0"/>
            <a:chExt cx="1024128" cy="1024128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9696393" y="8269929"/>
            <a:ext cx="399412" cy="399412"/>
            <a:chOff x="0" y="0"/>
            <a:chExt cx="532549" cy="532549"/>
          </a:xfrm>
        </p:grpSpPr>
        <p:sp>
          <p:nvSpPr>
            <p:cNvPr name="Freeform 87" id="87" descr="/home/claude/assets/icons/landmark_white.png"/>
            <p:cNvSpPr/>
            <p:nvPr/>
          </p:nvSpPr>
          <p:spPr>
            <a:xfrm flipH="false" flipV="false" rot="0">
              <a:off x="0" y="0"/>
              <a:ext cx="532511" cy="532511"/>
            </a:xfrm>
            <a:custGeom>
              <a:avLst/>
              <a:gdLst/>
              <a:ahLst/>
              <a:cxnLst/>
              <a:rect r="r" b="b" t="t" l="l"/>
              <a:pathLst>
                <a:path h="532511" w="532511">
                  <a:moveTo>
                    <a:pt x="0" y="0"/>
                  </a:moveTo>
                  <a:lnTo>
                    <a:pt x="532511" y="0"/>
                  </a:lnTo>
                  <a:lnTo>
                    <a:pt x="532511" y="532511"/>
                  </a:lnTo>
                  <a:lnTo>
                    <a:pt x="0" y="5325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7" b="-7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0527030" y="8003286"/>
            <a:ext cx="6912864" cy="468038"/>
            <a:chOff x="0" y="0"/>
            <a:chExt cx="9217152" cy="62405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9217152" cy="624050"/>
            </a:xfrm>
            <a:custGeom>
              <a:avLst/>
              <a:gdLst/>
              <a:ahLst/>
              <a:cxnLst/>
              <a:rect r="r" b="b" t="t" l="l"/>
              <a:pathLst>
                <a:path h="62405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624050"/>
                  </a:lnTo>
                  <a:lnTo>
                    <a:pt x="0" y="6240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903" r="0" b="-23468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9217152" cy="633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49"/>
                </a:lnSpc>
              </a:pPr>
              <a:r>
                <a:rPr lang="en-US" sz="2374" b="true">
                  <a:solidFill>
                    <a:srgbClr val="21295C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Fits Civic Priorities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0527030" y="8469630"/>
            <a:ext cx="6912864" cy="685800"/>
            <a:chOff x="0" y="0"/>
            <a:chExt cx="9217152" cy="91440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9217152" cy="914400"/>
            </a:xfrm>
            <a:custGeom>
              <a:avLst/>
              <a:gdLst/>
              <a:ahLst/>
              <a:cxnLst/>
              <a:rect r="r" b="b" t="t" l="l"/>
              <a:pathLst>
                <a:path h="914400" w="9217152">
                  <a:moveTo>
                    <a:pt x="0" y="0"/>
                  </a:moveTo>
                  <a:lnTo>
                    <a:pt x="9217152" y="0"/>
                  </a:lnTo>
                  <a:lnTo>
                    <a:pt x="9217152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6409" r="0" b="-146409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-38100"/>
              <a:ext cx="9217152" cy="9525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738"/>
                </a:lnSpc>
              </a:pPr>
              <a:r>
                <a:rPr lang="en-US" sz="2074" b="true">
                  <a:solidFill>
                    <a:srgbClr val="4A5568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Low-cost and data-backed — easy to plug into control rooms.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53373" y="9622006"/>
            <a:ext cx="12306745" cy="2099800"/>
            <a:chOff x="0" y="0"/>
            <a:chExt cx="4093849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242" y="0"/>
              <a:ext cx="4085364" cy="698500"/>
            </a:xfrm>
            <a:custGeom>
              <a:avLst/>
              <a:gdLst/>
              <a:ahLst/>
              <a:cxnLst/>
              <a:rect r="r" b="b" t="t" l="l"/>
              <a:pathLst>
                <a:path h="698500" w="4085364">
                  <a:moveTo>
                    <a:pt x="4081698" y="362844"/>
                  </a:moveTo>
                  <a:lnTo>
                    <a:pt x="3894315" y="684906"/>
                  </a:lnTo>
                  <a:cubicBezTo>
                    <a:pt x="3889419" y="693323"/>
                    <a:pt x="3880417" y="698500"/>
                    <a:pt x="3870680" y="698500"/>
                  </a:cubicBezTo>
                  <a:lnTo>
                    <a:pt x="214685" y="698500"/>
                  </a:lnTo>
                  <a:cubicBezTo>
                    <a:pt x="204948" y="698500"/>
                    <a:pt x="195946" y="693323"/>
                    <a:pt x="191049" y="684906"/>
                  </a:cubicBezTo>
                  <a:lnTo>
                    <a:pt x="3667" y="362844"/>
                  </a:lnTo>
                  <a:cubicBezTo>
                    <a:pt x="-1222" y="354441"/>
                    <a:pt x="-1222" y="344059"/>
                    <a:pt x="3667" y="335656"/>
                  </a:cubicBezTo>
                  <a:lnTo>
                    <a:pt x="191049" y="13594"/>
                  </a:lnTo>
                  <a:cubicBezTo>
                    <a:pt x="195946" y="5178"/>
                    <a:pt x="204948" y="0"/>
                    <a:pt x="214685" y="0"/>
                  </a:cubicBezTo>
                  <a:lnTo>
                    <a:pt x="3870680" y="0"/>
                  </a:lnTo>
                  <a:cubicBezTo>
                    <a:pt x="3880417" y="0"/>
                    <a:pt x="3889419" y="5178"/>
                    <a:pt x="3894315" y="13594"/>
                  </a:cubicBezTo>
                  <a:lnTo>
                    <a:pt x="4081698" y="335656"/>
                  </a:lnTo>
                  <a:cubicBezTo>
                    <a:pt x="4086587" y="344059"/>
                    <a:pt x="4086587" y="354441"/>
                    <a:pt x="4081698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2485" y="9812274"/>
            <a:ext cx="8229600" cy="384048"/>
            <a:chOff x="0" y="0"/>
            <a:chExt cx="1097280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Flood Monitoring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18663" y="9793224"/>
            <a:ext cx="1645920" cy="384048"/>
            <a:chOff x="0" y="0"/>
            <a:chExt cx="219456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05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25692" y="-1337560"/>
            <a:ext cx="15571623" cy="2582850"/>
            <a:chOff x="0" y="0"/>
            <a:chExt cx="4211153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53" y="0"/>
              <a:ext cx="4204448" cy="698500"/>
            </a:xfrm>
            <a:custGeom>
              <a:avLst/>
              <a:gdLst/>
              <a:ahLst/>
              <a:cxnLst/>
              <a:rect r="r" b="b" t="t" l="l"/>
              <a:pathLst>
                <a:path h="698500" w="4204448">
                  <a:moveTo>
                    <a:pt x="4201550" y="359993"/>
                  </a:moveTo>
                  <a:lnTo>
                    <a:pt x="4010851" y="687757"/>
                  </a:lnTo>
                  <a:cubicBezTo>
                    <a:pt x="4006981" y="694408"/>
                    <a:pt x="3999866" y="698500"/>
                    <a:pt x="3992171" y="698500"/>
                  </a:cubicBezTo>
                  <a:lnTo>
                    <a:pt x="212277" y="698500"/>
                  </a:lnTo>
                  <a:cubicBezTo>
                    <a:pt x="204581" y="698500"/>
                    <a:pt x="197466" y="694408"/>
                    <a:pt x="193596" y="687757"/>
                  </a:cubicBezTo>
                  <a:lnTo>
                    <a:pt x="2898" y="359993"/>
                  </a:lnTo>
                  <a:cubicBezTo>
                    <a:pt x="-966" y="353352"/>
                    <a:pt x="-966" y="345148"/>
                    <a:pt x="2898" y="338507"/>
                  </a:cubicBezTo>
                  <a:lnTo>
                    <a:pt x="193596" y="10743"/>
                  </a:lnTo>
                  <a:cubicBezTo>
                    <a:pt x="197466" y="4092"/>
                    <a:pt x="204581" y="0"/>
                    <a:pt x="212277" y="0"/>
                  </a:cubicBezTo>
                  <a:lnTo>
                    <a:pt x="3992171" y="0"/>
                  </a:lnTo>
                  <a:cubicBezTo>
                    <a:pt x="3999866" y="0"/>
                    <a:pt x="4006981" y="4092"/>
                    <a:pt x="4010851" y="10743"/>
                  </a:cubicBezTo>
                  <a:lnTo>
                    <a:pt x="4201550" y="338507"/>
                  </a:lnTo>
                  <a:cubicBezTo>
                    <a:pt x="4205414" y="345148"/>
                    <a:pt x="4205414" y="353352"/>
                    <a:pt x="4201550" y="359993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3982553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685800"/>
            <a:ext cx="10972800" cy="438912"/>
            <a:chOff x="0" y="0"/>
            <a:chExt cx="146304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1C7293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124712"/>
            <a:ext cx="16596360" cy="960120"/>
            <a:chOff x="0" y="0"/>
            <a:chExt cx="2212848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How It Works Under the Hood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2811780" y="2674620"/>
            <a:ext cx="1440180" cy="1440180"/>
            <a:chOff x="0" y="0"/>
            <a:chExt cx="1920240" cy="19202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3157423" y="3020263"/>
            <a:ext cx="748894" cy="748894"/>
            <a:chOff x="0" y="0"/>
            <a:chExt cx="998525" cy="998525"/>
          </a:xfrm>
        </p:grpSpPr>
        <p:sp>
          <p:nvSpPr>
            <p:cNvPr name="Freeform 23" id="23" descr="/home/claude/assets/icons/activity_white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5" b="-5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22960" y="4306824"/>
            <a:ext cx="5417820" cy="548640"/>
            <a:chOff x="0" y="0"/>
            <a:chExt cx="7223760" cy="73152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22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414" r="0" b="-142414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47625"/>
              <a:ext cx="7223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Real-Time Monitoring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028700" y="4869180"/>
            <a:ext cx="5006340" cy="891540"/>
            <a:chOff x="0" y="0"/>
            <a:chExt cx="6675120" cy="11887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751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15" r="0" b="-59415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66675"/>
              <a:ext cx="66751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9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Field data is collected and refreshed continuously.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8435340" y="2674620"/>
            <a:ext cx="1440180" cy="1440180"/>
            <a:chOff x="0" y="0"/>
            <a:chExt cx="1920240" cy="19202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780983" y="3020263"/>
            <a:ext cx="748894" cy="748894"/>
            <a:chOff x="0" y="0"/>
            <a:chExt cx="998525" cy="998525"/>
          </a:xfrm>
        </p:grpSpPr>
        <p:sp>
          <p:nvSpPr>
            <p:cNvPr name="Freeform 33" id="33" descr="/home/claude/assets/icons/sliders_white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5" b="-5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6446520" y="4306824"/>
            <a:ext cx="5417820" cy="548640"/>
            <a:chOff x="0" y="0"/>
            <a:chExt cx="7223760" cy="7315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2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414" r="0" b="-142414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47625"/>
              <a:ext cx="7223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Management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6652260" y="4869180"/>
            <a:ext cx="5006340" cy="891540"/>
            <a:chOff x="0" y="0"/>
            <a:chExt cx="6675120" cy="11887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6751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15" r="0" b="-5941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6751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9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Readings are cleaned, smoothed, and turned into a clear risk status.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4058900" y="2674620"/>
            <a:ext cx="1440180" cy="1440180"/>
            <a:chOff x="0" y="0"/>
            <a:chExt cx="1920240" cy="192024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920240" cy="1920240"/>
            </a:xfrm>
            <a:custGeom>
              <a:avLst/>
              <a:gdLst/>
              <a:ahLst/>
              <a:cxnLst/>
              <a:rect r="r" b="b" t="t" l="l"/>
              <a:pathLst>
                <a:path h="1920240" w="1920240">
                  <a:moveTo>
                    <a:pt x="0" y="960120"/>
                  </a:moveTo>
                  <a:cubicBezTo>
                    <a:pt x="0" y="429895"/>
                    <a:pt x="429895" y="0"/>
                    <a:pt x="960120" y="0"/>
                  </a:cubicBezTo>
                  <a:cubicBezTo>
                    <a:pt x="1490345" y="0"/>
                    <a:pt x="1920240" y="429895"/>
                    <a:pt x="1920240" y="960120"/>
                  </a:cubicBezTo>
                  <a:cubicBezTo>
                    <a:pt x="1920240" y="1490345"/>
                    <a:pt x="1490345" y="1920240"/>
                    <a:pt x="960120" y="1920240"/>
                  </a:cubicBezTo>
                  <a:cubicBezTo>
                    <a:pt x="429895" y="1920240"/>
                    <a:pt x="0" y="1490345"/>
                    <a:pt x="0" y="960120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42" id="42"/>
          <p:cNvGrpSpPr/>
          <p:nvPr/>
        </p:nvGrpSpPr>
        <p:grpSpPr>
          <a:xfrm rot="0">
            <a:off x="14404543" y="3020263"/>
            <a:ext cx="748894" cy="748894"/>
            <a:chOff x="0" y="0"/>
            <a:chExt cx="998525" cy="998525"/>
          </a:xfrm>
        </p:grpSpPr>
        <p:sp>
          <p:nvSpPr>
            <p:cNvPr name="Freeform 43" id="43" descr="/home/claude/assets/icons/shield_white.png"/>
            <p:cNvSpPr/>
            <p:nvPr/>
          </p:nvSpPr>
          <p:spPr>
            <a:xfrm flipH="false" flipV="false" rot="0">
              <a:off x="0" y="0"/>
              <a:ext cx="998474" cy="998474"/>
            </a:xfrm>
            <a:custGeom>
              <a:avLst/>
              <a:gdLst/>
              <a:ahLst/>
              <a:cxnLst/>
              <a:rect r="r" b="b" t="t" l="l"/>
              <a:pathLst>
                <a:path h="998474" w="998474">
                  <a:moveTo>
                    <a:pt x="0" y="0"/>
                  </a:moveTo>
                  <a:lnTo>
                    <a:pt x="998474" y="0"/>
                  </a:lnTo>
                  <a:lnTo>
                    <a:pt x="998474" y="998474"/>
                  </a:lnTo>
                  <a:lnTo>
                    <a:pt x="0" y="9984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5" b="-5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070080" y="4306824"/>
            <a:ext cx="5417820" cy="548640"/>
            <a:chOff x="0" y="0"/>
            <a:chExt cx="7223760" cy="731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722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7223760">
                  <a:moveTo>
                    <a:pt x="0" y="0"/>
                  </a:moveTo>
                  <a:lnTo>
                    <a:pt x="7223760" y="0"/>
                  </a:lnTo>
                  <a:lnTo>
                    <a:pt x="722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42414" r="0" b="-142414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47625"/>
              <a:ext cx="722376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90"/>
                </a:lnSpc>
              </a:pPr>
              <a:r>
                <a:rPr lang="en-US" sz="2325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Prevention &amp; Control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12275820" y="4869180"/>
            <a:ext cx="5006340" cy="891540"/>
            <a:chOff x="0" y="0"/>
            <a:chExt cx="6675120" cy="11887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675120" cy="1188720"/>
            </a:xfrm>
            <a:custGeom>
              <a:avLst/>
              <a:gdLst/>
              <a:ahLst/>
              <a:cxnLst/>
              <a:rect r="r" b="b" t="t" l="l"/>
              <a:pathLst>
                <a:path h="1188720" w="6675120">
                  <a:moveTo>
                    <a:pt x="0" y="0"/>
                  </a:moveTo>
                  <a:lnTo>
                    <a:pt x="6675120" y="0"/>
                  </a:lnTo>
                  <a:lnTo>
                    <a:pt x="667512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59415" r="0" b="-5941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66675"/>
              <a:ext cx="6675120" cy="12553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19"/>
                </a:lnSpc>
              </a:pPr>
              <a:r>
                <a:rPr lang="en-US" sz="1800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Automated alerts and controls act before flooding escalates.</a:t>
              </a:r>
            </a:p>
          </p:txBody>
        </p:sp>
      </p:grpSp>
      <p:sp>
        <p:nvSpPr>
          <p:cNvPr name="AutoShape 50" id="50"/>
          <p:cNvSpPr/>
          <p:nvPr/>
        </p:nvSpPr>
        <p:spPr>
          <a:xfrm rot="3959">
            <a:off x="813425" y="6236018"/>
            <a:ext cx="16656568" cy="0"/>
          </a:xfrm>
          <a:prstGeom prst="line">
            <a:avLst/>
          </a:prstGeom>
          <a:ln cap="rnd" w="9525">
            <a:solidFill>
              <a:srgbClr val="DCE0E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1" id="51"/>
          <p:cNvGrpSpPr/>
          <p:nvPr/>
        </p:nvGrpSpPr>
        <p:grpSpPr>
          <a:xfrm rot="0">
            <a:off x="822960" y="6473952"/>
            <a:ext cx="8229600" cy="411480"/>
            <a:chOff x="0" y="0"/>
            <a:chExt cx="10972800" cy="54864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0972800" cy="548640"/>
            </a:xfrm>
            <a:custGeom>
              <a:avLst/>
              <a:gdLst/>
              <a:ahLst/>
              <a:cxnLst/>
              <a:rect r="r" b="b" t="t" l="l"/>
              <a:pathLst>
                <a:path h="548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10972800" cy="586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225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BUILT WITH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813435" y="6941174"/>
            <a:ext cx="5409438" cy="1184910"/>
            <a:chOff x="0" y="0"/>
            <a:chExt cx="7212584" cy="157988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12584" cy="1579880"/>
            </a:xfrm>
            <a:custGeom>
              <a:avLst/>
              <a:gdLst/>
              <a:ahLst/>
              <a:cxnLst/>
              <a:rect r="r" b="b" t="t" l="l"/>
              <a:pathLst>
                <a:path h="1579880" w="7212584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7045325" y="0"/>
                  </a:lnTo>
                  <a:cubicBezTo>
                    <a:pt x="7137654" y="0"/>
                    <a:pt x="7212584" y="74930"/>
                    <a:pt x="7212584" y="167259"/>
                  </a:cubicBezTo>
                  <a:lnTo>
                    <a:pt x="7212584" y="1412621"/>
                  </a:lnTo>
                  <a:cubicBezTo>
                    <a:pt x="7212584" y="1504950"/>
                    <a:pt x="7137654" y="1579880"/>
                    <a:pt x="7045325" y="1579880"/>
                  </a:cubicBezTo>
                  <a:lnTo>
                    <a:pt x="167259" y="1579880"/>
                  </a:lnTo>
                  <a:cubicBezTo>
                    <a:pt x="74930" y="1579880"/>
                    <a:pt x="0" y="1504950"/>
                    <a:pt x="0" y="1412621"/>
                  </a:cubicBezTo>
                  <a:close/>
                </a:path>
              </a:pathLst>
            </a:custGeom>
            <a:solidFill>
              <a:srgbClr val="F5F7F9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069848" y="7163297"/>
            <a:ext cx="740664" cy="740664"/>
            <a:chOff x="0" y="0"/>
            <a:chExt cx="987552" cy="98755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1247604" y="7341053"/>
            <a:ext cx="385143" cy="385143"/>
            <a:chOff x="0" y="0"/>
            <a:chExt cx="513524" cy="513524"/>
          </a:xfrm>
        </p:grpSpPr>
        <p:sp>
          <p:nvSpPr>
            <p:cNvPr name="Freeform 59" id="59" descr="/home/claude/assets/icons/cpu_white.png"/>
            <p:cNvSpPr/>
            <p:nvPr/>
          </p:nvSpPr>
          <p:spPr>
            <a:xfrm flipH="false" flipV="false" rot="0">
              <a:off x="0" y="0"/>
              <a:ext cx="513588" cy="513588"/>
            </a:xfrm>
            <a:custGeom>
              <a:avLst/>
              <a:gdLst/>
              <a:ahLst/>
              <a:cxnLst/>
              <a:rect r="r" b="b" t="t" l="l"/>
              <a:pathLst>
                <a:path h="513588" w="513588">
                  <a:moveTo>
                    <a:pt x="0" y="0"/>
                  </a:moveTo>
                  <a:lnTo>
                    <a:pt x="513588" y="0"/>
                  </a:lnTo>
                  <a:lnTo>
                    <a:pt x="513588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2" b="12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988820" y="6950699"/>
            <a:ext cx="4018788" cy="1165860"/>
            <a:chOff x="0" y="0"/>
            <a:chExt cx="5358384" cy="15544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535838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6" r="0" b="-17166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57150"/>
              <a:ext cx="5358384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ESP32 + HC SR04 + Float Switch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6436995" y="6941174"/>
            <a:ext cx="5409438" cy="1184910"/>
            <a:chOff x="0" y="0"/>
            <a:chExt cx="7212584" cy="157988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212584" cy="1579880"/>
            </a:xfrm>
            <a:custGeom>
              <a:avLst/>
              <a:gdLst/>
              <a:ahLst/>
              <a:cxnLst/>
              <a:rect r="r" b="b" t="t" l="l"/>
              <a:pathLst>
                <a:path h="1579880" w="7212584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7045325" y="0"/>
                  </a:lnTo>
                  <a:cubicBezTo>
                    <a:pt x="7137654" y="0"/>
                    <a:pt x="7212584" y="74930"/>
                    <a:pt x="7212584" y="167259"/>
                  </a:cubicBezTo>
                  <a:lnTo>
                    <a:pt x="7212584" y="1412621"/>
                  </a:lnTo>
                  <a:cubicBezTo>
                    <a:pt x="7212584" y="1504950"/>
                    <a:pt x="7137654" y="1579880"/>
                    <a:pt x="7045325" y="1579880"/>
                  </a:cubicBezTo>
                  <a:lnTo>
                    <a:pt x="167259" y="1579880"/>
                  </a:lnTo>
                  <a:cubicBezTo>
                    <a:pt x="74930" y="1579880"/>
                    <a:pt x="0" y="1504950"/>
                    <a:pt x="0" y="1412621"/>
                  </a:cubicBezTo>
                  <a:close/>
                </a:path>
              </a:pathLst>
            </a:custGeom>
            <a:solidFill>
              <a:srgbClr val="F5F7F9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6693408" y="7163297"/>
            <a:ext cx="740664" cy="740664"/>
            <a:chOff x="0" y="0"/>
            <a:chExt cx="987552" cy="9875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6871164" y="7341053"/>
            <a:ext cx="385143" cy="385143"/>
            <a:chOff x="0" y="0"/>
            <a:chExt cx="513524" cy="513524"/>
          </a:xfrm>
        </p:grpSpPr>
        <p:sp>
          <p:nvSpPr>
            <p:cNvPr name="Freeform 68" id="68" descr="/home/claude/assets/icons/share_white.png"/>
            <p:cNvSpPr/>
            <p:nvPr/>
          </p:nvSpPr>
          <p:spPr>
            <a:xfrm flipH="false" flipV="false" rot="0">
              <a:off x="0" y="0"/>
              <a:ext cx="513588" cy="513588"/>
            </a:xfrm>
            <a:custGeom>
              <a:avLst/>
              <a:gdLst/>
              <a:ahLst/>
              <a:cxnLst/>
              <a:rect r="r" b="b" t="t" l="l"/>
              <a:pathLst>
                <a:path h="513588" w="513588">
                  <a:moveTo>
                    <a:pt x="0" y="0"/>
                  </a:moveTo>
                  <a:lnTo>
                    <a:pt x="513588" y="0"/>
                  </a:lnTo>
                  <a:lnTo>
                    <a:pt x="513588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2" b="12"/>
              </a:stretch>
            </a:blipFill>
          </p:spPr>
        </p:sp>
      </p:grpSp>
      <p:grpSp>
        <p:nvGrpSpPr>
          <p:cNvPr name="Group 69" id="69"/>
          <p:cNvGrpSpPr/>
          <p:nvPr/>
        </p:nvGrpSpPr>
        <p:grpSpPr>
          <a:xfrm rot="0">
            <a:off x="7612380" y="6950699"/>
            <a:ext cx="4018788" cy="1165860"/>
            <a:chOff x="0" y="0"/>
            <a:chExt cx="5358384" cy="155448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535838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6" r="0" b="-17166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57150"/>
              <a:ext cx="5358384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MQTT Messaging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2060555" y="6941174"/>
            <a:ext cx="5409438" cy="1184910"/>
            <a:chOff x="0" y="0"/>
            <a:chExt cx="7212584" cy="157988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12584" cy="1579880"/>
            </a:xfrm>
            <a:custGeom>
              <a:avLst/>
              <a:gdLst/>
              <a:ahLst/>
              <a:cxnLst/>
              <a:rect r="r" b="b" t="t" l="l"/>
              <a:pathLst>
                <a:path h="1579880" w="7212584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7045325" y="0"/>
                  </a:lnTo>
                  <a:cubicBezTo>
                    <a:pt x="7137654" y="0"/>
                    <a:pt x="7212584" y="74930"/>
                    <a:pt x="7212584" y="167259"/>
                  </a:cubicBezTo>
                  <a:lnTo>
                    <a:pt x="7212584" y="1412621"/>
                  </a:lnTo>
                  <a:cubicBezTo>
                    <a:pt x="7212584" y="1504950"/>
                    <a:pt x="7137654" y="1579880"/>
                    <a:pt x="7045325" y="1579880"/>
                  </a:cubicBezTo>
                  <a:lnTo>
                    <a:pt x="167259" y="1579880"/>
                  </a:lnTo>
                  <a:cubicBezTo>
                    <a:pt x="74930" y="1579880"/>
                    <a:pt x="0" y="1504950"/>
                    <a:pt x="0" y="1412621"/>
                  </a:cubicBezTo>
                  <a:close/>
                </a:path>
              </a:pathLst>
            </a:custGeom>
            <a:solidFill>
              <a:srgbClr val="F5F7F9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2316968" y="7163297"/>
            <a:ext cx="740664" cy="740664"/>
            <a:chOff x="0" y="0"/>
            <a:chExt cx="987552" cy="98755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12494724" y="7341053"/>
            <a:ext cx="385143" cy="385143"/>
            <a:chOff x="0" y="0"/>
            <a:chExt cx="513524" cy="513524"/>
          </a:xfrm>
        </p:grpSpPr>
        <p:sp>
          <p:nvSpPr>
            <p:cNvPr name="Freeform 77" id="77" descr="/home/claude/assets/icons/workflow_white.png"/>
            <p:cNvSpPr/>
            <p:nvPr/>
          </p:nvSpPr>
          <p:spPr>
            <a:xfrm flipH="false" flipV="false" rot="0">
              <a:off x="0" y="0"/>
              <a:ext cx="513588" cy="513588"/>
            </a:xfrm>
            <a:custGeom>
              <a:avLst/>
              <a:gdLst/>
              <a:ahLst/>
              <a:cxnLst/>
              <a:rect r="r" b="b" t="t" l="l"/>
              <a:pathLst>
                <a:path h="513588" w="513588">
                  <a:moveTo>
                    <a:pt x="0" y="0"/>
                  </a:moveTo>
                  <a:lnTo>
                    <a:pt x="513588" y="0"/>
                  </a:lnTo>
                  <a:lnTo>
                    <a:pt x="513588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12" b="12"/>
              </a:stretch>
            </a:blip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13235940" y="6950699"/>
            <a:ext cx="4018788" cy="1165860"/>
            <a:chOff x="0" y="0"/>
            <a:chExt cx="5358384" cy="155448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535838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6" r="0" b="-17166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57150"/>
              <a:ext cx="5358384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Node-RED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813435" y="8381354"/>
            <a:ext cx="5409438" cy="1184910"/>
            <a:chOff x="0" y="0"/>
            <a:chExt cx="7212584" cy="157988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212584" cy="1579880"/>
            </a:xfrm>
            <a:custGeom>
              <a:avLst/>
              <a:gdLst/>
              <a:ahLst/>
              <a:cxnLst/>
              <a:rect r="r" b="b" t="t" l="l"/>
              <a:pathLst>
                <a:path h="1579880" w="7212584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7045325" y="0"/>
                  </a:lnTo>
                  <a:cubicBezTo>
                    <a:pt x="7137654" y="0"/>
                    <a:pt x="7212584" y="74930"/>
                    <a:pt x="7212584" y="167259"/>
                  </a:cubicBezTo>
                  <a:lnTo>
                    <a:pt x="7212584" y="1412621"/>
                  </a:lnTo>
                  <a:cubicBezTo>
                    <a:pt x="7212584" y="1504950"/>
                    <a:pt x="7137654" y="1579880"/>
                    <a:pt x="7045325" y="1579880"/>
                  </a:cubicBezTo>
                  <a:lnTo>
                    <a:pt x="167259" y="1579880"/>
                  </a:lnTo>
                  <a:cubicBezTo>
                    <a:pt x="74930" y="1579880"/>
                    <a:pt x="0" y="1504950"/>
                    <a:pt x="0" y="1412621"/>
                  </a:cubicBezTo>
                  <a:close/>
                </a:path>
              </a:pathLst>
            </a:custGeom>
            <a:solidFill>
              <a:srgbClr val="F5F7F9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1069848" y="8603477"/>
            <a:ext cx="740664" cy="740664"/>
            <a:chOff x="0" y="0"/>
            <a:chExt cx="987552" cy="987552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85" id="85"/>
          <p:cNvGrpSpPr/>
          <p:nvPr/>
        </p:nvGrpSpPr>
        <p:grpSpPr>
          <a:xfrm rot="0">
            <a:off x="1247604" y="8781233"/>
            <a:ext cx="385143" cy="385143"/>
            <a:chOff x="0" y="0"/>
            <a:chExt cx="513524" cy="513524"/>
          </a:xfrm>
        </p:grpSpPr>
        <p:sp>
          <p:nvSpPr>
            <p:cNvPr name="Freeform 86" id="86" descr="/home/claude/assets/icons/cloud_white.png"/>
            <p:cNvSpPr/>
            <p:nvPr/>
          </p:nvSpPr>
          <p:spPr>
            <a:xfrm flipH="false" flipV="false" rot="0">
              <a:off x="0" y="0"/>
              <a:ext cx="513588" cy="513588"/>
            </a:xfrm>
            <a:custGeom>
              <a:avLst/>
              <a:gdLst/>
              <a:ahLst/>
              <a:cxnLst/>
              <a:rect r="r" b="b" t="t" l="l"/>
              <a:pathLst>
                <a:path h="513588" w="513588">
                  <a:moveTo>
                    <a:pt x="0" y="0"/>
                  </a:moveTo>
                  <a:lnTo>
                    <a:pt x="513588" y="0"/>
                  </a:lnTo>
                  <a:lnTo>
                    <a:pt x="513588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12" b="12"/>
              </a:stretch>
            </a:blip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988820" y="8390879"/>
            <a:ext cx="4018788" cy="1165860"/>
            <a:chOff x="0" y="0"/>
            <a:chExt cx="5358384" cy="15544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535838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6" r="0" b="-17166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57150"/>
              <a:ext cx="5358384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Weather Data (OpenWeatherMap)</a:t>
              </a:r>
            </a:p>
          </p:txBody>
        </p:sp>
      </p:grpSp>
      <p:grpSp>
        <p:nvGrpSpPr>
          <p:cNvPr name="Group 90" id="90"/>
          <p:cNvGrpSpPr/>
          <p:nvPr/>
        </p:nvGrpSpPr>
        <p:grpSpPr>
          <a:xfrm rot="0">
            <a:off x="6436995" y="8381354"/>
            <a:ext cx="5409438" cy="1184910"/>
            <a:chOff x="0" y="0"/>
            <a:chExt cx="7212584" cy="157988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7212584" cy="1579880"/>
            </a:xfrm>
            <a:custGeom>
              <a:avLst/>
              <a:gdLst/>
              <a:ahLst/>
              <a:cxnLst/>
              <a:rect r="r" b="b" t="t" l="l"/>
              <a:pathLst>
                <a:path h="1579880" w="7212584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7045325" y="0"/>
                  </a:lnTo>
                  <a:cubicBezTo>
                    <a:pt x="7137654" y="0"/>
                    <a:pt x="7212584" y="74930"/>
                    <a:pt x="7212584" y="167259"/>
                  </a:cubicBezTo>
                  <a:lnTo>
                    <a:pt x="7212584" y="1412621"/>
                  </a:lnTo>
                  <a:cubicBezTo>
                    <a:pt x="7212584" y="1504950"/>
                    <a:pt x="7137654" y="1579880"/>
                    <a:pt x="7045325" y="1579880"/>
                  </a:cubicBezTo>
                  <a:lnTo>
                    <a:pt x="167259" y="1579880"/>
                  </a:lnTo>
                  <a:cubicBezTo>
                    <a:pt x="74930" y="1579880"/>
                    <a:pt x="0" y="1504950"/>
                    <a:pt x="0" y="1412621"/>
                  </a:cubicBezTo>
                  <a:close/>
                </a:path>
              </a:pathLst>
            </a:custGeom>
            <a:solidFill>
              <a:srgbClr val="F5F7F9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6693408" y="8603477"/>
            <a:ext cx="740664" cy="740664"/>
            <a:chOff x="0" y="0"/>
            <a:chExt cx="987552" cy="98755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6871164" y="8781233"/>
            <a:ext cx="385143" cy="385143"/>
            <a:chOff x="0" y="0"/>
            <a:chExt cx="513524" cy="513524"/>
          </a:xfrm>
        </p:grpSpPr>
        <p:sp>
          <p:nvSpPr>
            <p:cNvPr name="Freeform 95" id="95" descr="/home/claude/assets/icons/dashboard_white.png"/>
            <p:cNvSpPr/>
            <p:nvPr/>
          </p:nvSpPr>
          <p:spPr>
            <a:xfrm flipH="false" flipV="false" rot="0">
              <a:off x="0" y="0"/>
              <a:ext cx="513588" cy="513588"/>
            </a:xfrm>
            <a:custGeom>
              <a:avLst/>
              <a:gdLst/>
              <a:ahLst/>
              <a:cxnLst/>
              <a:rect r="r" b="b" t="t" l="l"/>
              <a:pathLst>
                <a:path h="513588" w="513588">
                  <a:moveTo>
                    <a:pt x="0" y="0"/>
                  </a:moveTo>
                  <a:lnTo>
                    <a:pt x="513588" y="0"/>
                  </a:lnTo>
                  <a:lnTo>
                    <a:pt x="513588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12" b="12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7612380" y="8390879"/>
            <a:ext cx="4018788" cy="1165860"/>
            <a:chOff x="0" y="0"/>
            <a:chExt cx="5358384" cy="155448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535838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6" r="0" b="-1716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57150"/>
              <a:ext cx="5358384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Node-RED Dashboard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060555" y="8381354"/>
            <a:ext cx="5409438" cy="1184910"/>
            <a:chOff x="0" y="0"/>
            <a:chExt cx="7212584" cy="157988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7212584" cy="1579880"/>
            </a:xfrm>
            <a:custGeom>
              <a:avLst/>
              <a:gdLst/>
              <a:ahLst/>
              <a:cxnLst/>
              <a:rect r="r" b="b" t="t" l="l"/>
              <a:pathLst>
                <a:path h="1579880" w="7212584">
                  <a:moveTo>
                    <a:pt x="0" y="167259"/>
                  </a:moveTo>
                  <a:cubicBezTo>
                    <a:pt x="0" y="74930"/>
                    <a:pt x="74930" y="0"/>
                    <a:pt x="167259" y="0"/>
                  </a:cubicBezTo>
                  <a:lnTo>
                    <a:pt x="7045325" y="0"/>
                  </a:lnTo>
                  <a:cubicBezTo>
                    <a:pt x="7137654" y="0"/>
                    <a:pt x="7212584" y="74930"/>
                    <a:pt x="7212584" y="167259"/>
                  </a:cubicBezTo>
                  <a:lnTo>
                    <a:pt x="7212584" y="1412621"/>
                  </a:lnTo>
                  <a:cubicBezTo>
                    <a:pt x="7212584" y="1504950"/>
                    <a:pt x="7137654" y="1579880"/>
                    <a:pt x="7045325" y="1579880"/>
                  </a:cubicBezTo>
                  <a:lnTo>
                    <a:pt x="167259" y="1579880"/>
                  </a:lnTo>
                  <a:cubicBezTo>
                    <a:pt x="74930" y="1579880"/>
                    <a:pt x="0" y="1504950"/>
                    <a:pt x="0" y="1412621"/>
                  </a:cubicBezTo>
                  <a:close/>
                </a:path>
              </a:pathLst>
            </a:custGeom>
            <a:solidFill>
              <a:srgbClr val="F5F7F9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101" id="101"/>
          <p:cNvGrpSpPr/>
          <p:nvPr/>
        </p:nvGrpSpPr>
        <p:grpSpPr>
          <a:xfrm rot="0">
            <a:off x="12316968" y="8603477"/>
            <a:ext cx="740664" cy="740664"/>
            <a:chOff x="0" y="0"/>
            <a:chExt cx="987552" cy="98755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987552" cy="987552"/>
            </a:xfrm>
            <a:custGeom>
              <a:avLst/>
              <a:gdLst/>
              <a:ahLst/>
              <a:cxnLst/>
              <a:rect r="r" b="b" t="t" l="l"/>
              <a:pathLst>
                <a:path h="987552" w="987552">
                  <a:moveTo>
                    <a:pt x="0" y="493776"/>
                  </a:moveTo>
                  <a:cubicBezTo>
                    <a:pt x="0" y="221107"/>
                    <a:pt x="221107" y="0"/>
                    <a:pt x="493776" y="0"/>
                  </a:cubicBezTo>
                  <a:cubicBezTo>
                    <a:pt x="766445" y="0"/>
                    <a:pt x="987552" y="221107"/>
                    <a:pt x="987552" y="493776"/>
                  </a:cubicBezTo>
                  <a:cubicBezTo>
                    <a:pt x="987552" y="766445"/>
                    <a:pt x="766445" y="987552"/>
                    <a:pt x="493776" y="987552"/>
                  </a:cubicBezTo>
                  <a:cubicBezTo>
                    <a:pt x="221107" y="987552"/>
                    <a:pt x="0" y="766445"/>
                    <a:pt x="0" y="493776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494724" y="8781233"/>
            <a:ext cx="385143" cy="385143"/>
            <a:chOff x="0" y="0"/>
            <a:chExt cx="513524" cy="513524"/>
          </a:xfrm>
        </p:grpSpPr>
        <p:sp>
          <p:nvSpPr>
            <p:cNvPr name="Freeform 104" id="104" descr="/home/claude/assets/icons/mail_white.png"/>
            <p:cNvSpPr/>
            <p:nvPr/>
          </p:nvSpPr>
          <p:spPr>
            <a:xfrm flipH="false" flipV="false" rot="0">
              <a:off x="0" y="0"/>
              <a:ext cx="513588" cy="513588"/>
            </a:xfrm>
            <a:custGeom>
              <a:avLst/>
              <a:gdLst/>
              <a:ahLst/>
              <a:cxnLst/>
              <a:rect r="r" b="b" t="t" l="l"/>
              <a:pathLst>
                <a:path h="513588" w="513588">
                  <a:moveTo>
                    <a:pt x="0" y="0"/>
                  </a:moveTo>
                  <a:lnTo>
                    <a:pt x="513588" y="0"/>
                  </a:lnTo>
                  <a:lnTo>
                    <a:pt x="513588" y="513588"/>
                  </a:lnTo>
                  <a:lnTo>
                    <a:pt x="0" y="51358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12" b="12"/>
              </a:stretch>
            </a:blipFill>
          </p:spPr>
        </p:sp>
      </p:grpSp>
      <p:grpSp>
        <p:nvGrpSpPr>
          <p:cNvPr name="Group 105" id="105"/>
          <p:cNvGrpSpPr/>
          <p:nvPr/>
        </p:nvGrpSpPr>
        <p:grpSpPr>
          <a:xfrm rot="0">
            <a:off x="13235940" y="8390879"/>
            <a:ext cx="4018788" cy="1165860"/>
            <a:chOff x="0" y="0"/>
            <a:chExt cx="5358384" cy="1554480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5358384" cy="1554480"/>
            </a:xfrm>
            <a:custGeom>
              <a:avLst/>
              <a:gdLst/>
              <a:ahLst/>
              <a:cxnLst/>
              <a:rect r="r" b="b" t="t" l="l"/>
              <a:pathLst>
                <a:path h="1554480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166" r="0" b="-17166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57150"/>
              <a:ext cx="5358384" cy="16116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57"/>
                </a:lnSpc>
              </a:pPr>
              <a:r>
                <a:rPr lang="en-US" sz="195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Email Alerts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153373" y="9622006"/>
            <a:ext cx="12306745" cy="2099800"/>
            <a:chOff x="0" y="0"/>
            <a:chExt cx="4093849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4242" y="0"/>
              <a:ext cx="4085364" cy="698500"/>
            </a:xfrm>
            <a:custGeom>
              <a:avLst/>
              <a:gdLst/>
              <a:ahLst/>
              <a:cxnLst/>
              <a:rect r="r" b="b" t="t" l="l"/>
              <a:pathLst>
                <a:path h="698500" w="4085364">
                  <a:moveTo>
                    <a:pt x="4081698" y="362844"/>
                  </a:moveTo>
                  <a:lnTo>
                    <a:pt x="3894315" y="684906"/>
                  </a:lnTo>
                  <a:cubicBezTo>
                    <a:pt x="3889419" y="693323"/>
                    <a:pt x="3880417" y="698500"/>
                    <a:pt x="3870680" y="698500"/>
                  </a:cubicBezTo>
                  <a:lnTo>
                    <a:pt x="214685" y="698500"/>
                  </a:lnTo>
                  <a:cubicBezTo>
                    <a:pt x="204948" y="698500"/>
                    <a:pt x="195946" y="693323"/>
                    <a:pt x="191049" y="684906"/>
                  </a:cubicBezTo>
                  <a:lnTo>
                    <a:pt x="3667" y="362844"/>
                  </a:lnTo>
                  <a:cubicBezTo>
                    <a:pt x="-1222" y="354441"/>
                    <a:pt x="-1222" y="344059"/>
                    <a:pt x="3667" y="335656"/>
                  </a:cubicBezTo>
                  <a:lnTo>
                    <a:pt x="191049" y="13594"/>
                  </a:lnTo>
                  <a:cubicBezTo>
                    <a:pt x="195946" y="5178"/>
                    <a:pt x="204948" y="0"/>
                    <a:pt x="214685" y="0"/>
                  </a:cubicBezTo>
                  <a:lnTo>
                    <a:pt x="3870680" y="0"/>
                  </a:lnTo>
                  <a:cubicBezTo>
                    <a:pt x="3880417" y="0"/>
                    <a:pt x="3889419" y="5178"/>
                    <a:pt x="3894315" y="13594"/>
                  </a:cubicBezTo>
                  <a:lnTo>
                    <a:pt x="4081698" y="335656"/>
                  </a:lnTo>
                  <a:cubicBezTo>
                    <a:pt x="4086587" y="344059"/>
                    <a:pt x="4086587" y="354441"/>
                    <a:pt x="4081698" y="362844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114300" y="-38100"/>
              <a:ext cx="3865249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832485" y="9812274"/>
            <a:ext cx="8229600" cy="384048"/>
            <a:chOff x="0" y="0"/>
            <a:chExt cx="1097280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72800" cy="512064"/>
            </a:xfrm>
            <a:custGeom>
              <a:avLst/>
              <a:gdLst/>
              <a:ahLst/>
              <a:cxnLst/>
              <a:rect r="r" b="b" t="t" l="l"/>
              <a:pathLst>
                <a:path h="512064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7280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Smart Flood Monitoring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5818663" y="9793224"/>
            <a:ext cx="1645920" cy="384048"/>
            <a:chOff x="0" y="0"/>
            <a:chExt cx="219456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" cy="512064"/>
            </a:xfrm>
            <a:custGeom>
              <a:avLst/>
              <a:gdLst/>
              <a:ahLst/>
              <a:cxnLst/>
              <a:rect r="r" b="b" t="t" l="l"/>
              <a:pathLst>
                <a:path h="512064" w="2194560">
                  <a:moveTo>
                    <a:pt x="0" y="0"/>
                  </a:moveTo>
                  <a:lnTo>
                    <a:pt x="2194560" y="0"/>
                  </a:lnTo>
                  <a:lnTo>
                    <a:pt x="21945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507" r="0" b="-3350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194560" cy="5501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800"/>
                </a:lnSpc>
              </a:pPr>
              <a:r>
                <a:rPr lang="en-US" sz="15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06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025692" y="-1337560"/>
            <a:ext cx="15571623" cy="2582850"/>
            <a:chOff x="0" y="0"/>
            <a:chExt cx="4211153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53" y="0"/>
              <a:ext cx="4204448" cy="698500"/>
            </a:xfrm>
            <a:custGeom>
              <a:avLst/>
              <a:gdLst/>
              <a:ahLst/>
              <a:cxnLst/>
              <a:rect r="r" b="b" t="t" l="l"/>
              <a:pathLst>
                <a:path h="698500" w="4204448">
                  <a:moveTo>
                    <a:pt x="4201550" y="359993"/>
                  </a:moveTo>
                  <a:lnTo>
                    <a:pt x="4010851" y="687757"/>
                  </a:lnTo>
                  <a:cubicBezTo>
                    <a:pt x="4006981" y="694408"/>
                    <a:pt x="3999866" y="698500"/>
                    <a:pt x="3992171" y="698500"/>
                  </a:cubicBezTo>
                  <a:lnTo>
                    <a:pt x="212277" y="698500"/>
                  </a:lnTo>
                  <a:cubicBezTo>
                    <a:pt x="204581" y="698500"/>
                    <a:pt x="197466" y="694408"/>
                    <a:pt x="193596" y="687757"/>
                  </a:cubicBezTo>
                  <a:lnTo>
                    <a:pt x="2898" y="359993"/>
                  </a:lnTo>
                  <a:cubicBezTo>
                    <a:pt x="-966" y="353352"/>
                    <a:pt x="-966" y="345148"/>
                    <a:pt x="2898" y="338507"/>
                  </a:cubicBezTo>
                  <a:lnTo>
                    <a:pt x="193596" y="10743"/>
                  </a:lnTo>
                  <a:cubicBezTo>
                    <a:pt x="197466" y="4092"/>
                    <a:pt x="204581" y="0"/>
                    <a:pt x="212277" y="0"/>
                  </a:cubicBezTo>
                  <a:lnTo>
                    <a:pt x="3992171" y="0"/>
                  </a:lnTo>
                  <a:cubicBezTo>
                    <a:pt x="3999866" y="0"/>
                    <a:pt x="4006981" y="4092"/>
                    <a:pt x="4010851" y="10743"/>
                  </a:cubicBezTo>
                  <a:lnTo>
                    <a:pt x="4201550" y="338507"/>
                  </a:lnTo>
                  <a:cubicBezTo>
                    <a:pt x="4205414" y="345148"/>
                    <a:pt x="4205414" y="353352"/>
                    <a:pt x="4201550" y="359993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114300" y="-38100"/>
              <a:ext cx="3982553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22960" y="685800"/>
            <a:ext cx="10972800" cy="438912"/>
            <a:chOff x="0" y="0"/>
            <a:chExt cx="14630400" cy="58521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4630400" cy="585216"/>
            </a:xfrm>
            <a:custGeom>
              <a:avLst/>
              <a:gdLst/>
              <a:ahLst/>
              <a:cxnLst/>
              <a:rect r="r" b="b" t="t" l="l"/>
              <a:pathLst>
                <a:path h="58521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37125" r="0" b="-43712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4630400" cy="6233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300">
                  <a:solidFill>
                    <a:srgbClr val="E8A33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WHAT'S NEXT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22960" y="1143762"/>
            <a:ext cx="16596360" cy="960120"/>
            <a:chOff x="0" y="0"/>
            <a:chExt cx="22128480" cy="12801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128480" cy="1280160"/>
            </a:xfrm>
            <a:custGeom>
              <a:avLst/>
              <a:gdLst/>
              <a:ahLst/>
              <a:cxnLst/>
              <a:rect r="r" b="b" t="t" l="l"/>
              <a:pathLst>
                <a:path h="1280160" w="22128480">
                  <a:moveTo>
                    <a:pt x="0" y="0"/>
                  </a:moveTo>
                  <a:lnTo>
                    <a:pt x="22128480" y="0"/>
                  </a:lnTo>
                  <a:lnTo>
                    <a:pt x="22128480" y="1280160"/>
                  </a:lnTo>
                  <a:lnTo>
                    <a:pt x="0" y="12801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6812" r="0" b="-28681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9050"/>
              <a:ext cx="22128480" cy="12992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21295C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Where We're Taking This Next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56236" y="3345056"/>
            <a:ext cx="442208" cy="442208"/>
            <a:chOff x="0" y="0"/>
            <a:chExt cx="589610" cy="589610"/>
          </a:xfrm>
        </p:grpSpPr>
        <p:sp>
          <p:nvSpPr>
            <p:cNvPr name="Freeform 21" id="21" descr="/home/claude/assets/icons/siren_white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8" b="8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436995" y="2802255"/>
            <a:ext cx="5409438" cy="2967990"/>
            <a:chOff x="0" y="0"/>
            <a:chExt cx="7212584" cy="3957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212584" cy="3957320"/>
            </a:xfrm>
            <a:custGeom>
              <a:avLst/>
              <a:gdLst/>
              <a:ahLst/>
              <a:cxnLst/>
              <a:rect r="r" b="b" t="t" l="l"/>
              <a:pathLst>
                <a:path h="3957320" w="7212584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28561" y="0"/>
                  </a:lnTo>
                  <a:cubicBezTo>
                    <a:pt x="7130161" y="0"/>
                    <a:pt x="7212584" y="82423"/>
                    <a:pt x="7212584" y="184023"/>
                  </a:cubicBezTo>
                  <a:lnTo>
                    <a:pt x="7212584" y="3773297"/>
                  </a:lnTo>
                  <a:cubicBezTo>
                    <a:pt x="7212584" y="3874897"/>
                    <a:pt x="7130161" y="3957320"/>
                    <a:pt x="702856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6775704" y="3140964"/>
            <a:ext cx="850392" cy="850392"/>
            <a:chOff x="0" y="0"/>
            <a:chExt cx="1133856" cy="113385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6979796" y="3345056"/>
            <a:ext cx="442208" cy="442208"/>
            <a:chOff x="0" y="0"/>
            <a:chExt cx="589610" cy="589610"/>
          </a:xfrm>
        </p:grpSpPr>
        <p:sp>
          <p:nvSpPr>
            <p:cNvPr name="Freeform 27" id="27" descr="/home/claude/assets/icons/sliders_white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8" b="8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6775704" y="4183380"/>
            <a:ext cx="4732020" cy="685800"/>
            <a:chOff x="0" y="0"/>
            <a:chExt cx="6309360" cy="9144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6309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Automated Pump / Valve Control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6775704" y="4841748"/>
            <a:ext cx="4732020" cy="822960"/>
            <a:chOff x="0" y="0"/>
            <a:chExt cx="630936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66675"/>
              <a:ext cx="6309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Trigger drainage pumps or valves automatically in high-risk moments.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2060555" y="2802255"/>
            <a:ext cx="5409438" cy="2967990"/>
            <a:chOff x="0" y="0"/>
            <a:chExt cx="7212584" cy="395732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12584" cy="3957320"/>
            </a:xfrm>
            <a:custGeom>
              <a:avLst/>
              <a:gdLst/>
              <a:ahLst/>
              <a:cxnLst/>
              <a:rect r="r" b="b" t="t" l="l"/>
              <a:pathLst>
                <a:path h="3957320" w="7212584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28561" y="0"/>
                  </a:lnTo>
                  <a:cubicBezTo>
                    <a:pt x="7130161" y="0"/>
                    <a:pt x="7212584" y="82423"/>
                    <a:pt x="7212584" y="184023"/>
                  </a:cubicBezTo>
                  <a:lnTo>
                    <a:pt x="7212584" y="3773297"/>
                  </a:lnTo>
                  <a:cubicBezTo>
                    <a:pt x="7212584" y="3874897"/>
                    <a:pt x="7130161" y="3957320"/>
                    <a:pt x="702856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399264" y="3140964"/>
            <a:ext cx="850392" cy="850392"/>
            <a:chOff x="0" y="0"/>
            <a:chExt cx="1133856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603356" y="3345056"/>
            <a:ext cx="442208" cy="442208"/>
            <a:chOff x="0" y="0"/>
            <a:chExt cx="589610" cy="589610"/>
          </a:xfrm>
        </p:grpSpPr>
        <p:sp>
          <p:nvSpPr>
            <p:cNvPr name="Freeform 39" id="39" descr="/home/claude/assets/icons/mappin_white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8" b="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12399264" y="4183380"/>
            <a:ext cx="4732020" cy="685800"/>
            <a:chOff x="0" y="0"/>
            <a:chExt cx="6309360" cy="9144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6309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City-Wide Scaling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2399264" y="4841748"/>
            <a:ext cx="4732020" cy="822960"/>
            <a:chOff x="0" y="0"/>
            <a:chExt cx="6309360" cy="10972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6309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 from one point to multiple zones, all on one dashboard.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822960" y="2802255"/>
            <a:ext cx="5409438" cy="2967990"/>
            <a:chOff x="0" y="0"/>
            <a:chExt cx="7212584" cy="39573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212584" cy="3957320"/>
            </a:xfrm>
            <a:custGeom>
              <a:avLst/>
              <a:gdLst/>
              <a:ahLst/>
              <a:cxnLst/>
              <a:rect r="r" b="b" t="t" l="l"/>
              <a:pathLst>
                <a:path h="3957320" w="7212584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28561" y="0"/>
                  </a:lnTo>
                  <a:cubicBezTo>
                    <a:pt x="7130161" y="0"/>
                    <a:pt x="7212584" y="82423"/>
                    <a:pt x="7212584" y="184023"/>
                  </a:cubicBezTo>
                  <a:lnTo>
                    <a:pt x="7212584" y="3773297"/>
                  </a:lnTo>
                  <a:cubicBezTo>
                    <a:pt x="7212584" y="3874897"/>
                    <a:pt x="7130161" y="3957320"/>
                    <a:pt x="702856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48" id="48"/>
          <p:cNvGrpSpPr/>
          <p:nvPr/>
        </p:nvGrpSpPr>
        <p:grpSpPr>
          <a:xfrm rot="0">
            <a:off x="1161669" y="3140964"/>
            <a:ext cx="850392" cy="850392"/>
            <a:chOff x="0" y="0"/>
            <a:chExt cx="1133856" cy="113385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21295C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1365761" y="3345056"/>
            <a:ext cx="442208" cy="442208"/>
            <a:chOff x="0" y="0"/>
            <a:chExt cx="589610" cy="589610"/>
          </a:xfrm>
        </p:grpSpPr>
        <p:sp>
          <p:nvSpPr>
            <p:cNvPr name="Freeform 51" id="51" descr="/home/claude/assets/icons/search_white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8" b="8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61669" y="4183380"/>
            <a:ext cx="4732020" cy="685800"/>
            <a:chOff x="0" y="0"/>
            <a:chExt cx="6309360" cy="914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57150"/>
              <a:ext cx="6309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Blockage Detection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61669" y="4841748"/>
            <a:ext cx="4732020" cy="822960"/>
            <a:chOff x="0" y="0"/>
            <a:chExt cx="6309360" cy="1097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6309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Spot clogged drains so maintenance teams know exactly where to act.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3527679" y="5960745"/>
            <a:ext cx="5409438" cy="2967990"/>
            <a:chOff x="0" y="0"/>
            <a:chExt cx="7212584" cy="395732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12584" cy="3957320"/>
            </a:xfrm>
            <a:custGeom>
              <a:avLst/>
              <a:gdLst/>
              <a:ahLst/>
              <a:cxnLst/>
              <a:rect r="r" b="b" t="t" l="l"/>
              <a:pathLst>
                <a:path h="3957320" w="7212584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28561" y="0"/>
                  </a:lnTo>
                  <a:cubicBezTo>
                    <a:pt x="7130161" y="0"/>
                    <a:pt x="7212584" y="82423"/>
                    <a:pt x="7212584" y="184023"/>
                  </a:cubicBezTo>
                  <a:lnTo>
                    <a:pt x="7212584" y="3773297"/>
                  </a:lnTo>
                  <a:cubicBezTo>
                    <a:pt x="7212584" y="3874897"/>
                    <a:pt x="7130161" y="3957320"/>
                    <a:pt x="702856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3866388" y="6299454"/>
            <a:ext cx="850392" cy="850392"/>
            <a:chOff x="0" y="0"/>
            <a:chExt cx="1133856" cy="113385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1C7293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4070480" y="6503546"/>
            <a:ext cx="442208" cy="442208"/>
            <a:chOff x="0" y="0"/>
            <a:chExt cx="589610" cy="589610"/>
          </a:xfrm>
        </p:grpSpPr>
        <p:sp>
          <p:nvSpPr>
            <p:cNvPr name="Freeform 63" id="63" descr="/home/claude/assets/icons/phone_white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8" b="8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3866388" y="7341870"/>
            <a:ext cx="4732020" cy="685800"/>
            <a:chOff x="0" y="0"/>
            <a:chExt cx="6309360" cy="9144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57150"/>
              <a:ext cx="6309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 &amp; SMS Alerts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3866388" y="8000238"/>
            <a:ext cx="4732020" cy="822960"/>
            <a:chOff x="0" y="0"/>
            <a:chExt cx="6309360" cy="109728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66675"/>
              <a:ext cx="6309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Reach citizens directly on their phones, even without internet.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151239" y="5960745"/>
            <a:ext cx="5409438" cy="2967990"/>
            <a:chOff x="0" y="0"/>
            <a:chExt cx="7212584" cy="395732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212584" cy="3957320"/>
            </a:xfrm>
            <a:custGeom>
              <a:avLst/>
              <a:gdLst/>
              <a:ahLst/>
              <a:cxnLst/>
              <a:rect r="r" b="b" t="t" l="l"/>
              <a:pathLst>
                <a:path h="3957320" w="7212584">
                  <a:moveTo>
                    <a:pt x="0" y="184023"/>
                  </a:moveTo>
                  <a:cubicBezTo>
                    <a:pt x="0" y="82423"/>
                    <a:pt x="82423" y="0"/>
                    <a:pt x="184023" y="0"/>
                  </a:cubicBezTo>
                  <a:lnTo>
                    <a:pt x="7028561" y="0"/>
                  </a:lnTo>
                  <a:cubicBezTo>
                    <a:pt x="7130161" y="0"/>
                    <a:pt x="7212584" y="82423"/>
                    <a:pt x="7212584" y="184023"/>
                  </a:cubicBezTo>
                  <a:lnTo>
                    <a:pt x="7212584" y="3773297"/>
                  </a:lnTo>
                  <a:cubicBezTo>
                    <a:pt x="7212584" y="3874897"/>
                    <a:pt x="7130161" y="3957320"/>
                    <a:pt x="7028561" y="3957320"/>
                  </a:cubicBezTo>
                  <a:lnTo>
                    <a:pt x="184023" y="3957320"/>
                  </a:lnTo>
                  <a:cubicBezTo>
                    <a:pt x="82423" y="3957320"/>
                    <a:pt x="0" y="3874897"/>
                    <a:pt x="0" y="377329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E3E7EB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9489948" y="6299454"/>
            <a:ext cx="850392" cy="850392"/>
            <a:chOff x="0" y="0"/>
            <a:chExt cx="1133856" cy="1133856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133856" cy="1133856"/>
            </a:xfrm>
            <a:custGeom>
              <a:avLst/>
              <a:gdLst/>
              <a:ahLst/>
              <a:cxnLst/>
              <a:rect r="r" b="b" t="t" l="l"/>
              <a:pathLst>
                <a:path h="1133856" w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065A82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694040" y="6503546"/>
            <a:ext cx="442208" cy="442208"/>
            <a:chOff x="0" y="0"/>
            <a:chExt cx="589610" cy="589610"/>
          </a:xfrm>
        </p:grpSpPr>
        <p:sp>
          <p:nvSpPr>
            <p:cNvPr name="Freeform 75" id="75" descr="/home/claude/assets/icons/landmark_white.png"/>
            <p:cNvSpPr/>
            <p:nvPr/>
          </p:nvSpPr>
          <p:spPr>
            <a:xfrm flipH="false" flipV="false" rot="0">
              <a:off x="0" y="0"/>
              <a:ext cx="589661" cy="589661"/>
            </a:xfrm>
            <a:custGeom>
              <a:avLst/>
              <a:gdLst/>
              <a:ahLst/>
              <a:cxnLst/>
              <a:rect r="r" b="b" t="t" l="l"/>
              <a:pathLst>
                <a:path h="589661" w="589661">
                  <a:moveTo>
                    <a:pt x="0" y="0"/>
                  </a:moveTo>
                  <a:lnTo>
                    <a:pt x="589661" y="0"/>
                  </a:lnTo>
                  <a:lnTo>
                    <a:pt x="589661" y="589661"/>
                  </a:lnTo>
                  <a:lnTo>
                    <a:pt x="0" y="5896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8" b="8"/>
              </a:stretch>
            </a:blipFill>
          </p:spPr>
        </p:sp>
      </p:grpSp>
      <p:grpSp>
        <p:nvGrpSpPr>
          <p:cNvPr name="Group 76" id="76"/>
          <p:cNvGrpSpPr/>
          <p:nvPr/>
        </p:nvGrpSpPr>
        <p:grpSpPr>
          <a:xfrm rot="0">
            <a:off x="9489948" y="7341870"/>
            <a:ext cx="4732020" cy="685800"/>
            <a:chOff x="0" y="0"/>
            <a:chExt cx="6309360" cy="914400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6309360" cy="914400"/>
            </a:xfrm>
            <a:custGeom>
              <a:avLst/>
              <a:gdLst/>
              <a:ahLst/>
              <a:cxnLst/>
              <a:rect r="r" b="b" t="t" l="l"/>
              <a:pathLst>
                <a:path h="91440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84446" r="0" b="-84446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-57150"/>
              <a:ext cx="6309360" cy="9715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6"/>
                </a:lnSpc>
              </a:pPr>
              <a:r>
                <a:rPr lang="en-US" sz="2100" b="true">
                  <a:solidFill>
                    <a:srgbClr val="21295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Municipal Integration</a:t>
              </a:r>
            </a:p>
          </p:txBody>
        </p:sp>
      </p:grpSp>
      <p:grpSp>
        <p:nvGrpSpPr>
          <p:cNvPr name="Group 79" id="79"/>
          <p:cNvGrpSpPr/>
          <p:nvPr/>
        </p:nvGrpSpPr>
        <p:grpSpPr>
          <a:xfrm rot="0">
            <a:off x="9489948" y="8000238"/>
            <a:ext cx="4732020" cy="822960"/>
            <a:chOff x="0" y="0"/>
            <a:chExt cx="6309360" cy="109728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6309360" cy="1097280"/>
            </a:xfrm>
            <a:custGeom>
              <a:avLst/>
              <a:gdLst/>
              <a:ahLst/>
              <a:cxnLst/>
              <a:rect r="r" b="b" t="t" l="l"/>
              <a:pathLst>
                <a:path h="1097280" w="6309360">
                  <a:moveTo>
                    <a:pt x="0" y="0"/>
                  </a:moveTo>
                  <a:lnTo>
                    <a:pt x="6309360" y="0"/>
                  </a:lnTo>
                  <a:lnTo>
                    <a:pt x="630936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66675"/>
              <a:ext cx="630936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18"/>
                </a:lnSpc>
              </a:pPr>
              <a:r>
                <a:rPr lang="en-US" sz="1725">
                  <a:solidFill>
                    <a:srgbClr val="4A556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Connect into government control rooms and disaster-management systems.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DAHVWnN0MVs</dc:identifier>
  <dcterms:modified xsi:type="dcterms:W3CDTF">2011-08-01T06:04:30Z</dcterms:modified>
  <cp:revision>1</cp:revision>
  <dc:title>smart drain</dc:title>
</cp:coreProperties>
</file>